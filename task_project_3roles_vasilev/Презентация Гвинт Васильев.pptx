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0633254-802C-45C2-9EF2-4B38B55A5A53}" v="820" dt="2026-10-18T08:53:21.1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2" autoAdjust="0"/>
    <p:restoredTop sz="94660"/>
  </p:normalViewPr>
  <p:slideViewPr>
    <p:cSldViewPr snapToGrid="0">
      <p:cViewPr varScale="1">
        <p:scale>
          <a:sx n="89" d="100"/>
          <a:sy n="89" d="100"/>
        </p:scale>
        <p:origin x="8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3" units="cm"/>
      <inkml:brushProperty name="height" value="0.6" units="cm"/>
      <inkml:brushProperty name="color" value="#FF8517"/>
      <inkml:brushProperty name="tip" value="rectangle"/>
      <inkml:brushProperty name="rasterOp" value="maskPen"/>
    </inkml:brush>
  </inkml:definitions>
  <inkml:trace contextRef="#ctx0" brushRef="#br0">7805 5986 16383 0 0,'5'0'0'0'0,"6"0"0"0"0,11 0 0 0 0,7 0 0 0 0,7 0 0 0 0,3 0 0 0 0,-5 0 0 0 0,1 0 0 0 0,0 0 0 0 0,2 0 0 0 0,-3 0 0 0 0,-4 0 0 0 0,2 0 0 0 0,2 0 0 0 0,4 0 0 0 0,0 0 0 0 0,4 0 0 0 0,-6 0 0 0 0,-4 0 0 0 0,2 0 0 0 0,0 0 0 0 0,4 0 0 0 0,1 0 0 0 0,2 0 0 0 0,0 0 0 0 0,2 0 0 0 0,-1 0 0 0 0,2 0 0 0 0,-3 0 0 0 0,-7 0 0 0 0,0 0 0 0 0,-1 0 0 0 0,3 0 0 0 0,1 0 0 0 0,3 0 0 0 0,0 0 0 0 0,2 0 0 0 0,0 0 0 0 0,1 0 0 0 0,-1 0 0 0 0,2 0 0 0 0,-2 0 0 0 0,1 0 0 0 0,-1 0 0 0 0,1 0 0 0 0,-1 0 0 0 0,1 0 0 0 0,-2 0 0 0 0,2 0 0 0 0,-1 0 0 0 0,1 0 0 0 0,-2 0 0 0 0,3 0 0 0 0,-3 0 0 0 0,2 0 0 0 0,-1 0 0 0 0,1 0 0 0 0,-2 0 0 0 0,3 0 0 0 0,-3 0 0 0 0,2 0 0 0 0,-1 0 0 0 0,1 0 0 0 0,-2 0 0 0 0,3 0 0 0 0,-3 0 0 0 0,2 0 0 0 0,-1 0 0 0 0,1 0 0 0 0,-2 0 0 0 0,3 0 0 0 0,-3 0 0 0 0,2 0 0 0 0,-1 0 0 0 0,1 0 0 0 0,-2 0 0 0 0,3 0 0 0 0,-3 0 0 0 0,2 0 0 0 0,-1 0 0 0 0,1 0 0 0 0,-2 0 0 0 0,3 0 0 0 0,-3 0 0 0 0,2 0 0 0 0,-1 0 0 0 0,1 0 0 0 0,-2 0 0 0 0,3 0 0 0 0,-3 0 0 0 0,2 0 0 0 0,-1 0 0 0 0,1 0 0 0 0,-2 0 0 0 0,3 0 0 0 0,-3 0 0 0 0,2 0 0 0 0,-1 0 0 0 0,1 0 0 0 0,-2 0 0 0 0,3 0 0 0 0,-3 0 0 0 0,2 0 0 0 0,-1 0 0 0 0,1 0 0 0 0,-2 0 0 0 0,3 0 0 0 0,-3 0 0 0 0,2 0 0 0 0,8 0 0 0 0,1 0 0 0 0,0 0 0 0 0,-4 0 0 0 0,0 0 0 0 0,-3 0 0 0 0,-1 0 0 0 0,-2 0 0 0 0,1 0 0 0 0,-1 0 0 0 0,0 0 0 0 0,-1 0 0 0 0,2 0 0 0 0,-1 0 0 0 0,1 0 0 0 0,-2 0 0 0 0,2 0 0 0 0,-1 0 0 0 0,1 0 0 0 0,-2 0 0 0 0,3 0 0 0 0,-3 0 0 0 0,7 0 0 0 0,5 0 0 0 0,-2 0 0 0 0,0 0 0 0 0,-4 0 0 0 0,-1 0 0 0 0,-2 0 0 0 0,5 0 0 0 0,3 0 0 0 0,-1 0 0 0 0,-1 0 0 0 0,-3 0 0 0 0,-1 0 0 0 0,-2 0 0 0 0,-1 0 0 0 0,-1 0 0 0 0,1 0 0 0 0,-2 0 0 0 0,2 0 0 0 0,-2 0 0 0 0,2 0 0 0 0,-2 0 0 0 0,2 0 0 0 0,-1 0 0 0 0,1 0 0 0 0,-2 0 0 0 0,7 0 0 0 0,5 0 0 0 0,-2 0 0 0 0,0 0 0 0 0,-4 0 0 0 0,0 0 0 0 0,-4 0 0 0 0,1 0 0 0 0,-2 0 0 0 0,1 0 0 0 0,-2 0 0 0 0,1 0 0 0 0,0 0 0 0 0,0 0 0 0 0,0 0 0 0 0,1 0 0 0 0,-2 0 0 0 0,3 0 0 0 0,-3 0 0 0 0,2 0 0 0 0,-1 0 0 0 0,1 0 0 0 0,-2 0 0 0 0,3 0 0 0 0,-3 0 0 0 0,2 0 0 0 0,-1 0 0 0 0,1 0 0 0 0,-2 0 0 0 0,3 0 0 0 0,-3 0 0 0 0,2 0 0 0 0,-1 0 0 0 0,1 0 0 0 0,-2 0 0 0 0,3 0 0 0 0,-3 0 0 0 0,2 0 0 0 0,-1 0 0 0 0,1 0 0 0 0,-2 0 0 0 0,3 0 0 0 0,-3 0 0 0 0,2 0 0 0 0,-1 0 0 0 0,1 0 0 0 0,-2 0 0 0 0,3 0 0 0 0,-3 0 0 0 0,2 0 0 0 0,-1 0 0 0 0,1 0 0 0 0,-2 0 0 0 0,3 0 0 0 0,-3 0 0 0 0,2 0 0 0 0,-1 0 0 0 0,1 0 0 0 0,-2 0 0 0 0,3 0 0 0 0,-3 0 0 0 0,2 0 0 0 0,-1 0 0 0 0,1 0 0 0 0,-2 0 0 0 0,3 0 0 0 0,-3 0 0 0 0,2 0 0 0 0,-1 0 0 0 0,1 0 0 0 0,-2 0 0 0 0,3 0 0 0 0,-3 0 0 0 0,2 0 0 0 0,-1 0 0 0 0,1 0 0 0 0,-2 0 0 0 0,3 0 0 0 0,-3 0 0 0 0,2 0 0 0 0,-1 0 0 0 0,1 0 0 0 0,-2 0 0 0 0,3 0 0 0 0,-3 0 0 0 0,2 0 0 0 0,-1 0 0 0 0,1 0 0 0 0,-2 0 0 0 0,3 0 0 0 0,-3 0 0 0 0,2 0 0 0 0,-1 0 0 0 0,1 0 0 0 0,-2 0 0 0 0,3 0 0 0 0,-3 0 0 0 0,2 0 0 0 0,-1 0 0 0 0,1 0 0 0 0,-2 0 0 0 0,3 0 0 0 0,-3 0 0 0 0,2 0 0 0 0,-1 0 0 0 0,1 0 0 0 0,-2 0 0 0 0,3 0 0 0 0,-3 0 0 0 0,2 0 0 0 0,-1 0 0 0 0,1 0 0 0 0,-2 0 0 0 0,-7 0 0 0 0,0 0 0 0 0,-2 0 0 0 0,4 0 0 0 0,1 0 0 0 0,3 0 0 0 0,0 0 0 0 0,3 0 0 0 0,-2 0 0 0 0,3 0 0 0 0,-2 0 0 0 0,1 0 0 0 0,-1 0 0 0 0,1 0 0 0 0,-1 0 0 0 0,1 0 0 0 0,-1 0 0 0 0,1 0 0 0 0,-1 0 0 0 0,1 0 0 0 0,-2 0 0 0 0,2 0 0 0 0,-1 0 0 0 0,1 0 0 0 0,-2 0 0 0 0,3 0 0 0 0,-3 0 0 0 0,2 0 0 0 0,-1 0 0 0 0,1 0 0 0 0,-2 0 0 0 0,3 0 0 0 0,-3 0 0 0 0,2 0 0 0 0,-1 0 0 0 0,1 0 0 0 0,-2 0 0 0 0,3 0 0 0 0,-3 0 0 0 0,2 0 0 0 0,-1 0 0 0 0,1 0 0 0 0,-2 0 0 0 0,3 0 0 0 0,-3 0 0 0 0,2 0 0 0 0,-1 0 0 0 0,1 0 0 0 0,-2 0 0 0 0,3 0 0 0 0,-3 0 0 0 0,2 0 0 0 0,-1 0 0 0 0,1 0 0 0 0,-2 0 0 0 0,3 0 0 0 0,-3 0 0 0 0,2 0 0 0 0,-1 0 0 0 0,1 0 0 0 0,-2 0 0 0 0,3 0 0 0 0,-3 0 0 0 0,2 0 0 0 0,-1 0 0 0 0,1 0 0 0 0,-2 0 0 0 0,3 0 0 0 0,-3 0 0 0 0,2 0 0 0 0,-1 0 0 0 0,1 0 0 0 0,-2 0 0 0 0,3 0 0 0 0,-3 0 0 0 0,2 0 0 0 0,-1 0 0 0 0,1 0 0 0 0,-2 0 0 0 0,3 0 0 0 0,7 0 0 0 0,0 0 0 0 0,1 0 0 0 0,-4 0 0 0 0,0 0 0 0 0,-3 0 0 0 0,0 0 0 0 0,-3 0 0 0 0,1 0 0 0 0,-2 0 0 0 0,2 0 0 0 0,7 0 0 0 0,1 0 0 0 0,1 0 0 0 0,-4 0 0 0 0,0 0 0 0 0,-3 0 0 0 0,0 0 0 0 0,-3 0 0 0 0,6 0 0 0 0,4 0 0 0 0,-2 0 0 0 0,1 0 0 0 0,5 0 0 0 0,-1 0 0 0 0,-1 0 0 0 0,-5 0 0 0 0,4 0 0 0 0,2 0 0 0 0,7 0 0 0 0,-3 0 0 0 0,-2 0 0 0 0,4 0 0 0 0,-4 0 0 0 0,4 0 0 0 0,0 0 0 0 0,4 0 0 0 0,-4 0 0 0 0,-2 0 0 0 0,2 0 0 0 0,-4 0 0 0 0,-2 0 0 0 0,4 0 0 0 0,-3 0 0 0 0,3 0 0 0 0,1 0 0 0 0,5 0 0 0 0,-4 0 0 0 0,-2 0 0 0 0,2 0 0 0 0,-3 0 0 0 0,2 0 0 0 0,0 0 0 0 0,-4 0 0 0 0,2 0 0 0 0,0 0 0 0 0,6 0 0 0 0,6 0 0 0 0,-5 0 0 0 0,2 0 0 0 0,-1 0 0 0 0,2 0 0 0 0,-5 0 0 0 0,-4 0 0 0 0,3 0 0 0 0,-5 0 0 0 0,-3 0 0 0 0,5 0 0 0 0,-4 0 0 0 0,4 0 0 0 0,1 0 0 0 0,5 0 0 0 0,-4 0 0 0 0,-2 0 0 0 0,2 0 0 0 0,-3 0 0 0 0,2 0 0 0 0,0 0 0 0 0,-4 0 0 0 0,2 0 0 0 0,0 0 0 0 0,-3 0 0 0 0,-3 0 0 0 0,-5 0 0 0 0,-1 0 0 0 0,6 0 0 0 0,-1 0 0 0 0,1 0 0 0 0,-4 0 0 0 0,-1 0 0 0 0,-3 0 0 0 0,0 0 0 0 0,8 0 0 0 0,-1 0 0 0 0,5 0 0 0 0,8 0 0 0 0,3 0 0 0 0,-6 0 0 0 0,-3 0 0 0 0,-7 0 0 0 0,-3 0 0 0 0,-4 0 0 0 0,0 0 0 0 0,6 0 0 0 0,1 0 0 0 0,0 0 0 0 0,-4 0 0 0 0,1 0 0 0 0,-4 0 0 0 0,0 0 0 0 0,-2 0 0 0 0,1 0 0 0 0,-2 0 0 0 0,2 0 0 0 0,-2 0 0 0 0,2 0 0 0 0,-1 0 0 0 0,1 0 0 0 0,-2 0 0 0 0,2 0 0 0 0,-1 0 0 0 0,1 0 0 0 0,-2 0 0 0 0,3 0 0 0 0,-3 0 0 0 0,2 0 0 0 0,-1 0 0 0 0,1 0 0 0 0,-2 0 0 0 0,3 0 0 0 0,-3 0 0 0 0,2 0 0 0 0,-1 0 0 0 0,1 0 0 0 0,-2 0 0 0 0,3 0 0 0 0,-3 0 0 0 0,2 0 0 0 0,-1 0 0 0 0,1 0 0 0 0,-2 0 0 0 0,3 0 0 0 0,-3 0 0 0 0,2 0 0 0 0,-1 0 0 0 0,1 0 0 0 0,-2 0 0 0 0,3 0 0 0 0,-3 0 0 0 0,2 0 0 0 0,-1 0 0 0 0,1 0 0 0 0,-2 0 0 0 0,3 0 0 0 0,-3 0 0 0 0,2 0 0 0 0,-1 0 0 0 0,1 0 0 0 0,-2 0 0 0 0,3 0 0 0 0,-3 0 0 0 0,2 0 0 0 0,-1 0 0 0 0,1 0 0 0 0,-2 0 0 0 0,3 0 0 0 0,-3 0 0 0 0,2 0 0 0 0,-1 0 0 0 0,1 0 0 0 0,-2 0 0 0 0,3 0 0 0 0,-3 0 0 0 0,2 0 0 0 0,-1 0 0 0 0,1 0 0 0 0,-2 0 0 0 0,3 0 0 0 0,-3 0 0 0 0,2 0 0 0 0,-1 0 0 0 0,1 0 0 0 0,-2 0 0 0 0,3 0 0 0 0,-3 0 0 0 0,2 0 0 0 0,-1 0 0 0 0,1 0 0 0 0,-2 0 0 0 0,3 0 0 0 0,-3 0 0 0 0,2 0 0 0 0,-1 0 0 0 0,1 0 0 0 0,-2 0 0 0 0,3 0 0 0 0,-3 0 0 0 0,2 0 0 0 0,-1 0 0 0 0,1 0 0 0 0,-2 0 0 0 0,3 0 0 0 0,-3 0 0 0 0,2 0 0 0 0,-1 0 0 0 0,1 0 0 0 0,-2 0 0 0 0,3 0 0 0 0,-3 0 0 0 0,2 0 0 0 0,-1 0 0 0 0,1 0 0 0 0,-2 0 0 0 0,3 0 0 0 0,-3 0 0 0 0,2 0 0 0 0,-1 0 0 0 0,1 0 0 0 0,-2 0 0 0 0,3 0 0 0 0,-3 0 0 0 0,2 0 0 0 0,-1 0 0 0 0,1 0 0 0 0,-2 0 0 0 0,3 0 0 0 0,-3 0 0 0 0,2 0 0 0 0,-1 0 0 0 0,1 0 0 0 0,-2 0 0 0 0,3 0 0 0 0,-3 0 0 0 0,2 0 0 0 0,-1 0 0 0 0,1 0 0 0 0,-2 0 0 0 0,3 0 0 0 0,-3 0 0 0 0,2 0 0 0 0,-1 0 0 0 0,1 0 0 0 0,-2 0 0 0 0,3 0 0 0 0,-3 0 0 0 0,2 0 0 0 0,-1 0 0 0 0,1 0 0 0 0,-2 0 0 0 0,3 0 0 0 0,-3 0 0 0 0,2 0 0 0 0,-1 0 0 0 0,1 0 0 0 0,-2 0 0 0 0,3 0 0 0 0,-3 0 0 0 0,2 0 0 0 0,-1 0 0 0 0,1 0 0 0 0,-2 0 0 0 0,3 0 0 0 0,-3 0 0 0 0,2 0 0 0 0,-1 0 0 0 0,1 0 0 0 0,-2 0 0 0 0,3 0 0 0 0,-3 0 0 0 0,2 0 0 0 0,-1 0 0 0 0,1 0 0 0 0,-2 0 0 0 0,3 0 0 0 0,-3 0 0 0 0,-7 0 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18T08:31:32.688"/>
    </inkml:context>
    <inkml:brush xml:id="br0">
      <inkml:brushProperty name="width" value="0.3" units="cm"/>
      <inkml:brushProperty name="height" value="0.6" units="cm"/>
      <inkml:brushProperty name="color" value="#FF8517"/>
      <inkml:brushProperty name="tip" value="rectangle"/>
      <inkml:brushProperty name="rasterOp" value="maskPen"/>
    </inkml:brush>
  </inkml:definitions>
  <inkml:trace contextRef="#ctx0" brushRef="#br0">7805 5986 16383 0 0,'5'0'0'0'0,"6"0"0"0"0,11 0 0 0 0,7 0 0 0 0,7 0 0 0 0,3 0 0 0 0,-5 0 0 0 0,1 0 0 0 0,0 0 0 0 0,2 0 0 0 0,-3 0 0 0 0,-4 0 0 0 0,2 0 0 0 0,2 0 0 0 0,4 0 0 0 0,0 0 0 0 0,4 0 0 0 0,-6 0 0 0 0,-4 0 0 0 0,2 0 0 0 0,0 0 0 0 0,4 0 0 0 0,1 0 0 0 0,2 0 0 0 0,0 0 0 0 0,2 0 0 0 0,-1 0 0 0 0,2 0 0 0 0,-3 0 0 0 0,-7 0 0 0 0,0 0 0 0 0,-1 0 0 0 0,3 0 0 0 0,1 0 0 0 0,3 0 0 0 0,0 0 0 0 0,2 0 0 0 0,0 0 0 0 0,1 0 0 0 0,-1 0 0 0 0,2 0 0 0 0,-2 0 0 0 0,1 0 0 0 0,-1 0 0 0 0,1 0 0 0 0,-1 0 0 0 0,1 0 0 0 0,-2 0 0 0 0,2 0 0 0 0,-1 0 0 0 0,1 0 0 0 0,-2 0 0 0 0,3 0 0 0 0,-3 0 0 0 0,2 0 0 0 0,-1 0 0 0 0,1 0 0 0 0,-2 0 0 0 0,3 0 0 0 0,-3 0 0 0 0,2 0 0 0 0,-1 0 0 0 0,1 0 0 0 0,-2 0 0 0 0,3 0 0 0 0,-3 0 0 0 0,2 0 0 0 0,-1 0 0 0 0,1 0 0 0 0,-2 0 0 0 0,3 0 0 0 0,-3 0 0 0 0,2 0 0 0 0,-1 0 0 0 0,1 0 0 0 0,-2 0 0 0 0,3 0 0 0 0,-3 0 0 0 0,2 0 0 0 0,-1 0 0 0 0,1 0 0 0 0,-2 0 0 0 0,3 0 0 0 0,-3 0 0 0 0,2 0 0 0 0,-1 0 0 0 0,1 0 0 0 0,-2 0 0 0 0,3 0 0 0 0,-3 0 0 0 0,2 0 0 0 0,-1 0 0 0 0,1 0 0 0 0,-2 0 0 0 0,3 0 0 0 0,-3 0 0 0 0,2 0 0 0 0,-1 0 0 0 0,1 0 0 0 0,-2 0 0 0 0,3 0 0 0 0,-3 0 0 0 0,2 0 0 0 0,-1 0 0 0 0,1 0 0 0 0,-2 0 0 0 0,3 0 0 0 0,-3 0 0 0 0,2 0 0 0 0,8 0 0 0 0,1 0 0 0 0,0 0 0 0 0,-4 0 0 0 0,0 0 0 0 0,-3 0 0 0 0,-1 0 0 0 0,-2 0 0 0 0,1 0 0 0 0,-1 0 0 0 0,0 0 0 0 0,-1 0 0 0 0,2 0 0 0 0,-1 0 0 0 0,1 0 0 0 0,-2 0 0 0 0,2 0 0 0 0,-1 0 0 0 0,1 0 0 0 0,-2 0 0 0 0,3 0 0 0 0,-3 0 0 0 0,7 0 0 0 0,5 0 0 0 0,-2 0 0 0 0,0 0 0 0 0,-4 0 0 0 0,-1 0 0 0 0,-2 0 0 0 0,5 0 0 0 0,3 0 0 0 0,-1 0 0 0 0,-1 0 0 0 0,-3 0 0 0 0,-1 0 0 0 0,-2 0 0 0 0,-1 0 0 0 0,-1 0 0 0 0,1 0 0 0 0,-2 0 0 0 0,2 0 0 0 0,-2 0 0 0 0,2 0 0 0 0,-2 0 0 0 0,2 0 0 0 0,-1 0 0 0 0,1 0 0 0 0,-2 0 0 0 0,7 0 0 0 0,5 0 0 0 0,-2 0 0 0 0,0 0 0 0 0,-4 0 0 0 0,0 0 0 0 0,-4 0 0 0 0,1 0 0 0 0,-2 0 0 0 0,1 0 0 0 0,-2 0 0 0 0,1 0 0 0 0,0 0 0 0 0,0 0 0 0 0,0 0 0 0 0,1 0 0 0 0,-2 0 0 0 0,3 0 0 0 0,-3 0 0 0 0,2 0 0 0 0,-1 0 0 0 0,1 0 0 0 0,-2 0 0 0 0,3 0 0 0 0,-3 0 0 0 0,2 0 0 0 0,-1 0 0 0 0,1 0 0 0 0,-2 0 0 0 0,3 0 0 0 0,-3 0 0 0 0,2 0 0 0 0,-1 0 0 0 0,1 0 0 0 0,-2 0 0 0 0,3 0 0 0 0,-3 0 0 0 0,2 0 0 0 0,-1 0 0 0 0,1 0 0 0 0,-2 0 0 0 0,3 0 0 0 0,-3 0 0 0 0,2 0 0 0 0,-1 0 0 0 0,1 0 0 0 0,-2 0 0 0 0,3 0 0 0 0,-3 0 0 0 0,2 0 0 0 0,-1 0 0 0 0,1 0 0 0 0,-2 0 0 0 0,3 0 0 0 0,-3 0 0 0 0,2 0 0 0 0,-1 0 0 0 0,1 0 0 0 0,-2 0 0 0 0,3 0 0 0 0,-3 0 0 0 0,2 0 0 0 0,-1 0 0 0 0,1 0 0 0 0,-2 0 0 0 0,3 0 0 0 0,-3 0 0 0 0,2 0 0 0 0,-1 0 0 0 0,1 0 0 0 0,-2 0 0 0 0,3 0 0 0 0,-3 0 0 0 0,2 0 0 0 0,-1 0 0 0 0,1 0 0 0 0,-2 0 0 0 0,3 0 0 0 0,-3 0 0 0 0,2 0 0 0 0,-1 0 0 0 0,1 0 0 0 0,-2 0 0 0 0,3 0 0 0 0,-3 0 0 0 0,2 0 0 0 0,-1 0 0 0 0,1 0 0 0 0,-2 0 0 0 0,3 0 0 0 0,-3 0 0 0 0,2 0 0 0 0,-1 0 0 0 0,1 0 0 0 0,-2 0 0 0 0,3 0 0 0 0,-3 0 0 0 0,2 0 0 0 0,-1 0 0 0 0,1 0 0 0 0,-2 0 0 0 0,3 0 0 0 0,-3 0 0 0 0,2 0 0 0 0,-1 0 0 0 0,1 0 0 0 0,-2 0 0 0 0,3 0 0 0 0,-3 0 0 0 0,2 0 0 0 0,-1 0 0 0 0,1 0 0 0 0,-2 0 0 0 0,-7 0 0 0 0,0 0 0 0 0,-2 0 0 0 0,4 0 0 0 0,1 0 0 0 0,3 0 0 0 0,0 0 0 0 0,3 0 0 0 0,-2 0 0 0 0,3 0 0 0 0,-2 0 0 0 0,1 0 0 0 0,-1 0 0 0 0,1 0 0 0 0,-1 0 0 0 0,1 0 0 0 0,-1 0 0 0 0,1 0 0 0 0,-1 0 0 0 0,1 0 0 0 0,-2 0 0 0 0,2 0 0 0 0,-1 0 0 0 0,1 0 0 0 0,-2 0 0 0 0,3 0 0 0 0,-3 0 0 0 0,2 0 0 0 0,-1 0 0 0 0,1 0 0 0 0,-2 0 0 0 0,3 0 0 0 0,-3 0 0 0 0,2 0 0 0 0,-1 0 0 0 0,1 0 0 0 0,-2 0 0 0 0,3 0 0 0 0,-3 0 0 0 0,2 0 0 0 0,-1 0 0 0 0,1 0 0 0 0,-2 0 0 0 0,3 0 0 0 0,-3 0 0 0 0,2 0 0 0 0,-1 0 0 0 0,1 0 0 0 0,-2 0 0 0 0,3 0 0 0 0,-3 0 0 0 0,2 0 0 0 0,-1 0 0 0 0,1 0 0 0 0,-2 0 0 0 0,3 0 0 0 0,-3 0 0 0 0,2 0 0 0 0,-1 0 0 0 0,1 0 0 0 0,-2 0 0 0 0,3 0 0 0 0,-3 0 0 0 0,2 0 0 0 0,-1 0 0 0 0,1 0 0 0 0,-2 0 0 0 0,3 0 0 0 0,-3 0 0 0 0,2 0 0 0 0,-1 0 0 0 0,1 0 0 0 0,-2 0 0 0 0,3 0 0 0 0,-3 0 0 0 0,2 0 0 0 0,-1 0 0 0 0,1 0 0 0 0,-2 0 0 0 0,3 0 0 0 0,7 0 0 0 0,0 0 0 0 0,1 0 0 0 0,-4 0 0 0 0,0 0 0 0 0,-3 0 0 0 0,0 0 0 0 0,-3 0 0 0 0,1 0 0 0 0,-2 0 0 0 0,2 0 0 0 0,7 0 0 0 0,1 0 0 0 0,1 0 0 0 0,-4 0 0 0 0,0 0 0 0 0,-3 0 0 0 0,0 0 0 0 0,-3 0 0 0 0,6 0 0 0 0,4 0 0 0 0,-2 0 0 0 0,1 0 0 0 0,5 0 0 0 0,-1 0 0 0 0,-1 0 0 0 0,-5 0 0 0 0,4 0 0 0 0,2 0 0 0 0,7 0 0 0 0,-3 0 0 0 0,-2 0 0 0 0,4 0 0 0 0,-4 0 0 0 0,4 0 0 0 0,0 0 0 0 0,4 0 0 0 0,-4 0 0 0 0,-2 0 0 0 0,2 0 0 0 0,-4 0 0 0 0,-2 0 0 0 0,4 0 0 0 0,-3 0 0 0 0,3 0 0 0 0,1 0 0 0 0,5 0 0 0 0,-4 0 0 0 0,-2 0 0 0 0,2 0 0 0 0,-3 0 0 0 0,2 0 0 0 0,0 0 0 0 0,-4 0 0 0 0,2 0 0 0 0,0 0 0 0 0,6 0 0 0 0,6 0 0 0 0,-5 0 0 0 0,2 0 0 0 0,-1 0 0 0 0,2 0 0 0 0,-5 0 0 0 0,-4 0 0 0 0,3 0 0 0 0,-5 0 0 0 0,-3 0 0 0 0,5 0 0 0 0,-4 0 0 0 0,4 0 0 0 0,1 0 0 0 0,5 0 0 0 0,-4 0 0 0 0,-2 0 0 0 0,2 0 0 0 0,-3 0 0 0 0,2 0 0 0 0,0 0 0 0 0,-4 0 0 0 0,2 0 0 0 0,0 0 0 0 0,-3 0 0 0 0,-3 0 0 0 0,-5 0 0 0 0,-1 0 0 0 0,6 0 0 0 0,-1 0 0 0 0,1 0 0 0 0,-4 0 0 0 0,-1 0 0 0 0,-3 0 0 0 0,0 0 0 0 0,8 0 0 0 0,-1 0 0 0 0,5 0 0 0 0,8 0 0 0 0,3 0 0 0 0,-6 0 0 0 0,-3 0 0 0 0,-7 0 0 0 0,-3 0 0 0 0,-4 0 0 0 0,0 0 0 0 0,6 0 0 0 0,1 0 0 0 0,0 0 0 0 0,-4 0 0 0 0,1 0 0 0 0,-4 0 0 0 0,0 0 0 0 0,-2 0 0 0 0,1 0 0 0 0,-2 0 0 0 0,2 0 0 0 0,-2 0 0 0 0,2 0 0 0 0,-1 0 0 0 0,1 0 0 0 0,-2 0 0 0 0,2 0 0 0 0,-1 0 0 0 0,1 0 0 0 0,-2 0 0 0 0,3 0 0 0 0,-3 0 0 0 0,2 0 0 0 0,-1 0 0 0 0,1 0 0 0 0,-2 0 0 0 0,3 0 0 0 0,-3 0 0 0 0,2 0 0 0 0,-1 0 0 0 0,1 0 0 0 0,-2 0 0 0 0,3 0 0 0 0,-3 0 0 0 0,2 0 0 0 0,-1 0 0 0 0,1 0 0 0 0,-2 0 0 0 0,3 0 0 0 0,-3 0 0 0 0,2 0 0 0 0,-1 0 0 0 0,1 0 0 0 0,-2 0 0 0 0,3 0 0 0 0,-3 0 0 0 0,2 0 0 0 0,-1 0 0 0 0,1 0 0 0 0,-2 0 0 0 0,3 0 0 0 0,-3 0 0 0 0,2 0 0 0 0,-1 0 0 0 0,1 0 0 0 0,-2 0 0 0 0,3 0 0 0 0,-3 0 0 0 0,2 0 0 0 0,-1 0 0 0 0,1 0 0 0 0,-2 0 0 0 0,3 0 0 0 0,-3 0 0 0 0,2 0 0 0 0,-1 0 0 0 0,1 0 0 0 0,-2 0 0 0 0,3 0 0 0 0,-3 0 0 0 0,2 0 0 0 0,-1 0 0 0 0,1 0 0 0 0,-2 0 0 0 0,3 0 0 0 0,-3 0 0 0 0,2 0 0 0 0,-1 0 0 0 0,1 0 0 0 0,-2 0 0 0 0,3 0 0 0 0,-3 0 0 0 0,2 0 0 0 0,-1 0 0 0 0,1 0 0 0 0,-2 0 0 0 0,3 0 0 0 0,-3 0 0 0 0,2 0 0 0 0,-1 0 0 0 0,1 0 0 0 0,-2 0 0 0 0,3 0 0 0 0,-3 0 0 0 0,2 0 0 0 0,-1 0 0 0 0,1 0 0 0 0,-2 0 0 0 0,3 0 0 0 0,-3 0 0 0 0,2 0 0 0 0,-1 0 0 0 0,1 0 0 0 0,-2 0 0 0 0,3 0 0 0 0,-3 0 0 0 0,2 0 0 0 0,-1 0 0 0 0,1 0 0 0 0,-2 0 0 0 0,3 0 0 0 0,-3 0 0 0 0,2 0 0 0 0,-1 0 0 0 0,1 0 0 0 0,-2 0 0 0 0,3 0 0 0 0,-3 0 0 0 0,2 0 0 0 0,-1 0 0 0 0,1 0 0 0 0,-2 0 0 0 0,3 0 0 0 0,-3 0 0 0 0,2 0 0 0 0,-1 0 0 0 0,1 0 0 0 0,-2 0 0 0 0,3 0 0 0 0,-3 0 0 0 0,2 0 0 0 0,-1 0 0 0 0,1 0 0 0 0,-2 0 0 0 0,3 0 0 0 0,-3 0 0 0 0,2 0 0 0 0,-1 0 0 0 0,1 0 0 0 0,-2 0 0 0 0,3 0 0 0 0,-3 0 0 0 0,2 0 0 0 0,-1 0 0 0 0,1 0 0 0 0,-2 0 0 0 0,3 0 0 0 0,-3 0 0 0 0,2 0 0 0 0,-1 0 0 0 0,1 0 0 0 0,-2 0 0 0 0,3 0 0 0 0,-3 0 0 0 0,2 0 0 0 0,-1 0 0 0 0,1 0 0 0 0,-2 0 0 0 0,3 0 0 0 0,-3 0 0 0 0,2 0 0 0 0,-1 0 0 0 0,1 0 0 0 0,-2 0 0 0 0,3 0 0 0 0,-3 0 0 0 0,2 0 0 0 0,-1 0 0 0 0,1 0 0 0 0,-2 0 0 0 0,3 0 0 0 0,-3 0 0 0 0,-7 0 0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18.10.2026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079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18.10.2026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3711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18.10.2026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6369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18.10.2026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576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18.10.2026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002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18.10.2026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5335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18.10.2026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8754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18.10.2026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5695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18.10.2026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4169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18.10.2026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5727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18.10.2026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2261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FFB779-270B-4192-84BA-A697F48306DC}" type="datetimeFigureOut">
              <a:rPr lang="ru-RU" smtClean="0"/>
              <a:t>18.10.2026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4979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62EBD1F-ECAA-FE72-49C7-2E85905D6CC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148" t="9091" r="28547" b="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anchor="b">
            <a:normAutofit/>
          </a:bodyPr>
          <a:lstStyle/>
          <a:p>
            <a:pPr algn="l"/>
            <a:r>
              <a:rPr lang="ru-RU" sz="3700">
                <a:ea typeface="+mj-lt"/>
                <a:cs typeface="+mj-lt"/>
              </a:rPr>
              <a:t>Разработка мобильного приложения «Гвинт» на платформе Android</a:t>
            </a:r>
            <a:endParaRPr lang="ru-RU" sz="370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ru-RU" sz="1400">
                <a:ea typeface="+mn-lt"/>
                <a:cs typeface="+mn-lt"/>
              </a:rPr>
              <a:t>Выполнил: Васильев Константин Сергеевич</a:t>
            </a:r>
          </a:p>
          <a:p>
            <a:pPr algn="l"/>
            <a:r>
              <a:rPr lang="ru-RU" sz="1400">
                <a:ea typeface="+mn-lt"/>
                <a:cs typeface="+mn-lt"/>
              </a:rPr>
              <a:t>Роли: Архитектор ядра, Разработчик интерфейса, Специалист по безопасности</a:t>
            </a:r>
            <a:endParaRPr lang="ru-RU" sz="140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51651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8F855B-EC22-100B-AF3F-22EC47EC11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ru-RU" sz="6600">
                <a:latin typeface="Times New Roman"/>
                <a:ea typeface="+mj-lt"/>
                <a:cs typeface="Angsana New"/>
              </a:rPr>
              <a:t>О проекте</a:t>
            </a:r>
            <a:endParaRPr lang="ru-RU" sz="6600">
              <a:latin typeface="Times New Roman"/>
              <a:cs typeface="Angsana New"/>
            </a:endParaRP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650D18FE-0824-4A46-B22C-A86B52E57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363DA18-5D4F-7FBF-922D-55D7C6956D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519" y="2660904"/>
            <a:ext cx="9539055" cy="3547872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>
              <a:buFont typeface="Wingdings" panose="020B0604020202020204" pitchFamily="34" charset="0"/>
              <a:buChar char="v"/>
            </a:pPr>
            <a:r>
              <a:rPr lang="ru-RU" sz="2000">
                <a:latin typeface="Times New Roman"/>
                <a:ea typeface="+mn-lt"/>
                <a:cs typeface="Times New Roman"/>
              </a:rPr>
              <a:t>Что это: Мобильная карточная игра «Гвинт» для Android, воспроизводящая оригинальную версию, воссозданную с нуля через Android Studio на языке программирования Kotlin.</a:t>
            </a:r>
            <a:endParaRPr lang="ru-RU" sz="2000">
              <a:latin typeface="Times New Roman"/>
              <a:cs typeface="Times New Roman"/>
            </a:endParaRPr>
          </a:p>
          <a:p>
            <a:pPr>
              <a:buFont typeface="Wingdings" panose="020B0604020202020204" pitchFamily="34" charset="0"/>
              <a:buChar char="v"/>
            </a:pPr>
            <a:r>
              <a:rPr lang="ru-RU" sz="2000">
                <a:latin typeface="Times New Roman"/>
                <a:ea typeface="+mn-lt"/>
                <a:cs typeface="Times New Roman"/>
              </a:rPr>
              <a:t>Проблема: Коммерческие версии перегружены микротранзакциями и требуют онлайн. Оригинала нет на мобильных платформах.</a:t>
            </a:r>
            <a:endParaRPr lang="ru-RU" sz="2000">
              <a:latin typeface="Times New Roman"/>
              <a:cs typeface="Times New Roman"/>
            </a:endParaRPr>
          </a:p>
          <a:p>
            <a:pPr>
              <a:buFont typeface="Wingdings" panose="020B0604020202020204" pitchFamily="34" charset="0"/>
              <a:buChar char="v"/>
            </a:pPr>
            <a:r>
              <a:rPr lang="ru-RU" sz="2000">
                <a:latin typeface="Times New Roman"/>
                <a:ea typeface="+mn-lt"/>
                <a:cs typeface="Times New Roman"/>
              </a:rPr>
              <a:t>Цель: Создать автономную игру с классическими правилами без интернета.</a:t>
            </a:r>
            <a:endParaRPr lang="ru-RU" sz="2000">
              <a:latin typeface="Times New Roman"/>
              <a:cs typeface="Times New Roman"/>
            </a:endParaRPr>
          </a:p>
          <a:p>
            <a:pPr>
              <a:buFont typeface="Wingdings" panose="020B0604020202020204" pitchFamily="34" charset="0"/>
              <a:buChar char="v"/>
            </a:pPr>
            <a:r>
              <a:rPr lang="ru-RU" sz="2000">
                <a:latin typeface="Times New Roman"/>
                <a:ea typeface="+mn-lt"/>
                <a:cs typeface="Times New Roman"/>
              </a:rPr>
              <a:t>Ключевые сценарии: Сборка колоды, выбор лидера, сражение с ИИ, использование способностей, пас.</a:t>
            </a:r>
            <a:endParaRPr lang="ru-RU" sz="2000">
              <a:latin typeface="Times New Roman"/>
              <a:cs typeface="Times New Roman"/>
            </a:endParaRPr>
          </a:p>
          <a:p>
            <a:pPr>
              <a:buFont typeface="Wingdings" panose="020B0604020202020204" pitchFamily="34" charset="0"/>
              <a:buChar char="v"/>
            </a:pPr>
            <a:r>
              <a:rPr lang="ru-RU" sz="2000">
                <a:latin typeface="Times New Roman"/>
                <a:ea typeface="+mn-lt"/>
                <a:cs typeface="Times New Roman"/>
              </a:rPr>
              <a:t>Ближайший план разработки: Доработка интерфейса, расширение пула карт и способностей, полировка различных недочётов, внедрение фильтрации по фракциям, усовершенствование бота-противника.</a:t>
            </a:r>
            <a:endParaRPr lang="ru-RU" sz="2000"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ru-RU" sz="1500" dirty="0">
              <a:latin typeface="Times New Roman"/>
              <a:cs typeface="Times New Roman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6D5E0B8-ECA5-FCDA-590C-B901DC8294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9298" y="107093"/>
            <a:ext cx="3934968" cy="2548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22403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15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05E60C-AB8B-AA46-7400-DA8CDA4ADD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ru-RU" sz="4600">
                <a:ea typeface="+mj-lt"/>
                <a:cs typeface="+mj-lt"/>
              </a:rPr>
              <a:t>Архитектура ядра: ООП-подход</a:t>
            </a:r>
            <a:endParaRPr lang="ru-RU" sz="4600"/>
          </a:p>
        </p:txBody>
      </p:sp>
      <p:sp>
        <p:nvSpPr>
          <p:cNvPr id="24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57076A1-313A-3956-D96C-8C3934A2B7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6226470" cy="3558455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Font typeface="Wingdings" panose="020B0604020202020204" pitchFamily="34" charset="0"/>
              <a:buChar char="v"/>
            </a:pPr>
            <a:r>
              <a:rPr lang="ru-RU" sz="2400">
                <a:latin typeface="Times New Roman"/>
                <a:ea typeface="+mn-lt"/>
                <a:cs typeface="Times New Roman"/>
              </a:rPr>
              <a:t>Наследование: Базовый класс </a:t>
            </a:r>
            <a:r>
              <a:rPr lang="ru-RU" sz="2400">
                <a:latin typeface="Times New Roman"/>
                <a:cs typeface="Times New Roman"/>
              </a:rPr>
              <a:t>AppCompatActivity</a:t>
            </a:r>
            <a:r>
              <a:rPr lang="ru-RU" sz="2400">
                <a:latin typeface="Times New Roman"/>
                <a:ea typeface="+mn-lt"/>
                <a:cs typeface="Times New Roman"/>
              </a:rPr>
              <a:t>. Дочерние: </a:t>
            </a:r>
            <a:r>
              <a:rPr lang="ru-RU" sz="2400">
                <a:latin typeface="Times New Roman"/>
                <a:cs typeface="Times New Roman"/>
              </a:rPr>
              <a:t>MainActivity</a:t>
            </a:r>
            <a:r>
              <a:rPr lang="ru-RU" sz="2400">
                <a:latin typeface="Times New Roman"/>
                <a:ea typeface="+mn-lt"/>
                <a:cs typeface="Times New Roman"/>
              </a:rPr>
              <a:t>, </a:t>
            </a:r>
            <a:r>
              <a:rPr lang="ru-RU" sz="2400">
                <a:latin typeface="Times New Roman"/>
                <a:cs typeface="Times New Roman"/>
              </a:rPr>
              <a:t>DeckActivity</a:t>
            </a:r>
            <a:r>
              <a:rPr lang="ru-RU" sz="2400">
                <a:latin typeface="Times New Roman"/>
                <a:ea typeface="+mn-lt"/>
                <a:cs typeface="Times New Roman"/>
              </a:rPr>
              <a:t>, </a:t>
            </a:r>
            <a:r>
              <a:rPr lang="ru-RU" sz="2400">
                <a:latin typeface="Times New Roman"/>
                <a:cs typeface="Times New Roman"/>
              </a:rPr>
              <a:t>  BattleActivity</a:t>
            </a:r>
            <a:r>
              <a:rPr lang="ru-RU" sz="2400">
                <a:latin typeface="Times New Roman"/>
                <a:ea typeface="+mn-lt"/>
                <a:cs typeface="Times New Roman"/>
              </a:rPr>
              <a:t>.</a:t>
            </a:r>
            <a:endParaRPr lang="ru-RU" sz="2400">
              <a:latin typeface="Times New Roman"/>
              <a:cs typeface="Times New Roman"/>
            </a:endParaRPr>
          </a:p>
          <a:p>
            <a:pPr>
              <a:buFont typeface="Wingdings" panose="020B0604020202020204" pitchFamily="34" charset="0"/>
              <a:buChar char="v"/>
            </a:pPr>
            <a:r>
              <a:rPr lang="ru-RU" sz="2400">
                <a:latin typeface="Times New Roman"/>
                <a:ea typeface="+mn-lt"/>
                <a:cs typeface="Times New Roman"/>
              </a:rPr>
              <a:t>Композиция: </a:t>
            </a:r>
            <a:r>
              <a:rPr lang="ru-RU" sz="2400">
                <a:latin typeface="Times New Roman"/>
                <a:cs typeface="Times New Roman"/>
              </a:rPr>
              <a:t>BattleActivity</a:t>
            </a:r>
            <a:r>
              <a:rPr lang="ru-RU" sz="2400">
                <a:latin typeface="Times New Roman"/>
                <a:ea typeface="+mn-lt"/>
                <a:cs typeface="Times New Roman"/>
              </a:rPr>
              <a:t> не содержит логику в себе, а делегирует её менеджерам.</a:t>
            </a:r>
            <a:endParaRPr lang="ru-RU" sz="2400">
              <a:latin typeface="Times New Roman"/>
              <a:cs typeface="Times New Roman"/>
            </a:endParaRPr>
          </a:p>
          <a:p>
            <a:pPr>
              <a:buFont typeface="Wingdings" panose="020B0604020202020204" pitchFamily="34" charset="0"/>
              <a:buChar char="v"/>
            </a:pPr>
            <a:r>
              <a:rPr lang="ru-RU" sz="2400">
                <a:latin typeface="Times New Roman"/>
                <a:ea typeface="+mn-lt"/>
                <a:cs typeface="Times New Roman"/>
              </a:rPr>
              <a:t>Полиморфизм: </a:t>
            </a:r>
            <a:r>
              <a:rPr lang="ru-RU" sz="2400">
                <a:latin typeface="Times New Roman"/>
                <a:cs typeface="Times New Roman"/>
              </a:rPr>
              <a:t>BattleActivity</a:t>
            </a:r>
            <a:r>
              <a:rPr lang="ru-RU" sz="2400">
                <a:latin typeface="Times New Roman"/>
                <a:ea typeface="+mn-lt"/>
                <a:cs typeface="Times New Roman"/>
              </a:rPr>
              <a:t> реализует интерфейс </a:t>
            </a:r>
            <a:r>
              <a:rPr lang="ru-RU" sz="2400">
                <a:latin typeface="Times New Roman"/>
                <a:cs typeface="Times New Roman"/>
              </a:rPr>
              <a:t>BattleInterface</a:t>
            </a:r>
            <a:r>
              <a:rPr lang="ru-RU" sz="2400">
                <a:latin typeface="Times New Roman"/>
                <a:ea typeface="+mn-lt"/>
                <a:cs typeface="Times New Roman"/>
              </a:rPr>
              <a:t>. </a:t>
            </a:r>
            <a:r>
              <a:rPr lang="ru-RU" sz="2400">
                <a:latin typeface="Times New Roman"/>
                <a:cs typeface="Times New Roman"/>
              </a:rPr>
              <a:t>AbilityManager</a:t>
            </a:r>
            <a:r>
              <a:rPr lang="ru-RU" sz="2400">
                <a:latin typeface="Times New Roman"/>
                <a:ea typeface="+mn-lt"/>
                <a:cs typeface="Times New Roman"/>
              </a:rPr>
              <a:t>  работает с интерфейсом, а не с конкретным классом.</a:t>
            </a:r>
            <a:endParaRPr lang="ru-RU" sz="2400">
              <a:latin typeface="Times New Roman"/>
              <a:cs typeface="Times New Roman"/>
            </a:endParaRPr>
          </a:p>
          <a:p>
            <a:pPr>
              <a:buFont typeface="Wingdings" panose="020B0604020202020204" pitchFamily="34" charset="0"/>
              <a:buChar char="v"/>
            </a:pPr>
            <a:endParaRPr lang="ru-RU" sz="2400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90DB645A-1C22-603E-A9D6-8C7F72840D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6469" y="640080"/>
            <a:ext cx="3524126" cy="5577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07213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40FA9B-E469-95FF-A3BE-7E03A850DA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ru-RU" sz="3400">
                <a:solidFill>
                  <a:srgbClr val="FFFFFF"/>
                </a:solidFill>
                <a:ea typeface="+mj-lt"/>
                <a:cs typeface="+mj-lt"/>
              </a:rPr>
              <a:t>Принцип DRY и распределение логики</a:t>
            </a:r>
            <a:endParaRPr lang="ru-RU" sz="3400">
              <a:solidFill>
                <a:srgbClr val="FFFFFF"/>
              </a:solidFill>
            </a:endParaRPr>
          </a:p>
        </p:txBody>
      </p:sp>
      <p:sp>
        <p:nvSpPr>
          <p:cNvPr id="23" name="Arc 22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C1DCCDF-635F-AE27-312F-77D19B4467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ru-RU" sz="2400">
                <a:latin typeface="Times New Roman"/>
                <a:cs typeface="Times New Roman"/>
              </a:rPr>
              <a:t>DRY (Don't Repeat Yourself) соблюдается в проекте, общие операции вынесены в отдельные файлы. </a:t>
            </a:r>
            <a:endParaRPr lang="ru-RU" sz="2400"/>
          </a:p>
          <a:p>
            <a:pPr marL="0" indent="0">
              <a:buNone/>
            </a:pPr>
            <a:r>
              <a:rPr lang="ru-RU" sz="2400">
                <a:latin typeface="Times New Roman"/>
                <a:cs typeface="Times New Roman"/>
              </a:rPr>
              <a:t>К примеру:</a:t>
            </a:r>
            <a:endParaRPr lang="ru-RU" sz="2400"/>
          </a:p>
          <a:p>
            <a:pPr>
              <a:buFont typeface="Wingdings" panose="020B0604020202020204" pitchFamily="34" charset="0"/>
              <a:buChar char="v"/>
            </a:pPr>
            <a:r>
              <a:rPr lang="ru-RU" sz="2400">
                <a:latin typeface="Times New Roman"/>
                <a:cs typeface="Times New Roman"/>
              </a:rPr>
              <a:t>CardExtensions: функции-расширения для работы со списками карт (например, withoutSpies()).</a:t>
            </a:r>
          </a:p>
          <a:p>
            <a:pPr>
              <a:buFont typeface="Wingdings" panose="020B0604020202020204" pitchFamily="34" charset="0"/>
              <a:buChar char="v"/>
            </a:pPr>
            <a:r>
              <a:rPr lang="ru-RU" sz="2400">
                <a:latin typeface="Times New Roman"/>
                <a:cs typeface="Times New Roman"/>
              </a:rPr>
              <a:t>DeckRepository: централизованное сохранение колоды (никакого дублирования кода SharedPreferences).</a:t>
            </a:r>
          </a:p>
          <a:p>
            <a:pPr>
              <a:buFont typeface="Wingdings" panose="020B0604020202020204" pitchFamily="34" charset="0"/>
              <a:buChar char="v"/>
            </a:pPr>
            <a:r>
              <a:rPr lang="ru-RU" sz="2400">
                <a:latin typeface="Times New Roman"/>
                <a:cs typeface="Times New Roman"/>
              </a:rPr>
              <a:t>ScoreCalculator: единая формула подсчёта очков для UI и ИИ.</a:t>
            </a:r>
          </a:p>
          <a:p>
            <a:pPr>
              <a:buFont typeface="Wingdings" panose="020B0604020202020204" pitchFamily="34" charset="0"/>
              <a:buChar char="v"/>
            </a:pPr>
            <a:r>
              <a:rPr lang="ru-RU" sz="2400">
                <a:latin typeface="Times New Roman"/>
                <a:cs typeface="Times New Roman"/>
              </a:rPr>
              <a:t>BattleState: единое хранилище состояния боя (ряды, счёт, погода), с которым работают все менеджеры.</a:t>
            </a:r>
          </a:p>
          <a:p>
            <a:pPr>
              <a:buFont typeface="Wingdings" panose="020B0604020202020204" pitchFamily="34" charset="0"/>
              <a:buChar char="v"/>
            </a:pPr>
            <a:endParaRPr lang="ru-RU" sz="2400"/>
          </a:p>
        </p:txBody>
      </p:sp>
    </p:spTree>
    <p:extLst>
      <p:ext uri="{BB962C8B-B14F-4D97-AF65-F5344CB8AC3E}">
        <p14:creationId xmlns:p14="http://schemas.microsoft.com/office/powerpoint/2010/main" val="28499877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E75984-D785-237F-7380-4B07672D4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721"/>
            <a:ext cx="4982837" cy="1246816"/>
          </a:xfrm>
        </p:spPr>
        <p:txBody>
          <a:bodyPr anchor="b">
            <a:noAutofit/>
          </a:bodyPr>
          <a:lstStyle/>
          <a:p>
            <a:r>
              <a:rPr lang="ru-RU" sz="3200">
                <a:solidFill>
                  <a:schemeClr val="bg1"/>
                </a:solidFill>
                <a:latin typeface="Times New Roman"/>
                <a:ea typeface="+mj-lt"/>
                <a:cs typeface="Times New Roman"/>
              </a:rPr>
              <a:t>Реализация полиморфизма через интерфейс</a:t>
            </a:r>
            <a:endParaRPr lang="ru-RU" sz="3200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EA38897-7BA3-4408-8083-3235339C4A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1873" y="1749756"/>
            <a:ext cx="4718304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Объект 2">
            <a:extLst>
              <a:ext uri="{FF2B5EF4-FFF2-40B4-BE49-F238E27FC236}">
                <a16:creationId xmlns:a16="http://schemas.microsoft.com/office/drawing/2014/main" id="{FDE4892B-91CA-6374-DD2E-5877A9A138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4269" y="1909192"/>
            <a:ext cx="4713513" cy="3647710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Font typeface="Wingdings" panose="020B0604020202020204" pitchFamily="34" charset="0"/>
              <a:buChar char="v"/>
            </a:pPr>
            <a:r>
              <a:rPr lang="ru-RU" sz="2400">
                <a:solidFill>
                  <a:schemeClr val="bg1"/>
                </a:solidFill>
                <a:latin typeface="Times New Roman"/>
                <a:ea typeface="+mn-lt"/>
                <a:cs typeface="Times New Roman"/>
              </a:rPr>
              <a:t>Интерфейс </a:t>
            </a:r>
            <a:r>
              <a:rPr lang="ru-RU" sz="2400">
                <a:solidFill>
                  <a:schemeClr val="bg1"/>
                </a:solidFill>
                <a:latin typeface="Times New Roman"/>
                <a:cs typeface="Times New Roman"/>
              </a:rPr>
              <a:t>BattleInterface</a:t>
            </a:r>
            <a:r>
              <a:rPr lang="ru-RU" sz="2400">
                <a:solidFill>
                  <a:schemeClr val="bg1"/>
                </a:solidFill>
                <a:latin typeface="Times New Roman"/>
                <a:ea typeface="+mn-lt"/>
                <a:cs typeface="Times New Roman"/>
              </a:rPr>
              <a:t> задает контракт для экрана сражения.</a:t>
            </a:r>
            <a:endParaRPr lang="ru-RU" sz="2400" dirty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>
              <a:buFont typeface="Wingdings" panose="020B0604020202020204" pitchFamily="34" charset="0"/>
              <a:buChar char="v"/>
            </a:pPr>
            <a:endParaRPr lang="ru-RU" sz="2400" dirty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>
              <a:buFont typeface="Wingdings" panose="020B0604020202020204" pitchFamily="34" charset="0"/>
              <a:buChar char="v"/>
            </a:pPr>
            <a:r>
              <a:rPr lang="ru-RU" sz="2400">
                <a:solidFill>
                  <a:schemeClr val="bg1"/>
                </a:solidFill>
                <a:latin typeface="Times New Roman"/>
                <a:cs typeface="Times New Roman"/>
              </a:rPr>
              <a:t>AbilityManager</a:t>
            </a:r>
            <a:r>
              <a:rPr lang="ru-RU" sz="2400">
                <a:solidFill>
                  <a:schemeClr val="bg1"/>
                </a:solidFill>
                <a:latin typeface="Times New Roman"/>
                <a:ea typeface="+mn-lt"/>
                <a:cs typeface="Times New Roman"/>
              </a:rPr>
              <a:t> не зависит от </a:t>
            </a:r>
            <a:r>
              <a:rPr lang="ru-RU" sz="2400">
                <a:solidFill>
                  <a:schemeClr val="bg1"/>
                </a:solidFill>
                <a:latin typeface="Times New Roman"/>
                <a:cs typeface="Times New Roman"/>
              </a:rPr>
              <a:t>BattleActivity</a:t>
            </a:r>
            <a:r>
              <a:rPr lang="ru-RU" sz="2400">
                <a:solidFill>
                  <a:schemeClr val="bg1"/>
                </a:solidFill>
                <a:latin typeface="Times New Roman"/>
                <a:ea typeface="+mn-lt"/>
                <a:cs typeface="Times New Roman"/>
              </a:rPr>
              <a:t> напрямую.</a:t>
            </a:r>
            <a:endParaRPr lang="ru-RU" sz="2400" dirty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>
              <a:buFont typeface="Wingdings" panose="020B0604020202020204" pitchFamily="34" charset="0"/>
              <a:buChar char="v"/>
            </a:pPr>
            <a:endParaRPr lang="ru-RU" sz="2400" dirty="0">
              <a:solidFill>
                <a:schemeClr val="bg1"/>
              </a:solidFill>
              <a:latin typeface="Times New Roman"/>
              <a:ea typeface="+mn-lt"/>
              <a:cs typeface="Times New Roman"/>
            </a:endParaRPr>
          </a:p>
          <a:p>
            <a:pPr>
              <a:buFont typeface="Wingdings" panose="020B0604020202020204" pitchFamily="34" charset="0"/>
              <a:buChar char="v"/>
            </a:pPr>
            <a:r>
              <a:rPr lang="ru-RU" sz="2400">
                <a:solidFill>
                  <a:schemeClr val="bg1"/>
                </a:solidFill>
                <a:latin typeface="Times New Roman"/>
                <a:ea typeface="+mn-lt"/>
                <a:cs typeface="Times New Roman"/>
              </a:rPr>
              <a:t>Это позволяет легко добавлять новые способы применения карт.</a:t>
            </a:r>
            <a:endParaRPr lang="ru-RU" sz="2400" dirty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>
              <a:buFont typeface="Wingdings" panose="020B0604020202020204" pitchFamily="34" charset="0"/>
              <a:buChar char="v"/>
            </a:pPr>
            <a:endParaRPr lang="ru-RU" sz="2000">
              <a:solidFill>
                <a:schemeClr val="bg1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11AD06B-AB20-4097-8606-5DA00DBACE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4027" y="5707672"/>
            <a:ext cx="4713997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1908A91-5295-7FB7-8D19-98F5E71B2A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6203" y="862216"/>
            <a:ext cx="5666547" cy="468906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22781329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8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: Shape 10">
            <a:extLst>
              <a:ext uri="{FF2B5EF4-FFF2-40B4-BE49-F238E27FC236}">
                <a16:creationId xmlns:a16="http://schemas.microsoft.com/office/drawing/2014/main" id="{3529E97A-97C3-40EA-8A04-5C02398D5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877832"/>
          </a:xfrm>
          <a:custGeom>
            <a:avLst/>
            <a:gdLst>
              <a:gd name="connsiteX0" fmla="*/ 6789701 w 12192000"/>
              <a:gd name="connsiteY0" fmla="*/ 2809623 h 2877832"/>
              <a:gd name="connsiteX1" fmla="*/ 6788702 w 12192000"/>
              <a:gd name="connsiteY1" fmla="*/ 2809701 h 2877832"/>
              <a:gd name="connsiteX2" fmla="*/ 6788476 w 12192000"/>
              <a:gd name="connsiteY2" fmla="*/ 2810235 h 2877832"/>
              <a:gd name="connsiteX3" fmla="*/ 0 w 12192000"/>
              <a:gd name="connsiteY3" fmla="*/ 0 h 2877832"/>
              <a:gd name="connsiteX4" fmla="*/ 12192000 w 12192000"/>
              <a:gd name="connsiteY4" fmla="*/ 0 h 2877832"/>
              <a:gd name="connsiteX5" fmla="*/ 12192000 w 12192000"/>
              <a:gd name="connsiteY5" fmla="*/ 1915388 h 2877832"/>
              <a:gd name="connsiteX6" fmla="*/ 12061096 w 12192000"/>
              <a:gd name="connsiteY6" fmla="*/ 1954428 h 2877832"/>
              <a:gd name="connsiteX7" fmla="*/ 11676800 w 12192000"/>
              <a:gd name="connsiteY7" fmla="*/ 2058003 h 2877832"/>
              <a:gd name="connsiteX8" fmla="*/ 10425355 w 12192000"/>
              <a:gd name="connsiteY8" fmla="*/ 2341542 h 2877832"/>
              <a:gd name="connsiteX9" fmla="*/ 9424022 w 12192000"/>
              <a:gd name="connsiteY9" fmla="*/ 2516704 h 2877832"/>
              <a:gd name="connsiteX10" fmla="*/ 8458419 w 12192000"/>
              <a:gd name="connsiteY10" fmla="*/ 2650405 h 2877832"/>
              <a:gd name="connsiteX11" fmla="*/ 7715970 w 12192000"/>
              <a:gd name="connsiteY11" fmla="*/ 2730352 h 2877832"/>
              <a:gd name="connsiteX12" fmla="*/ 6951716 w 12192000"/>
              <a:gd name="connsiteY12" fmla="*/ 2796132 h 2877832"/>
              <a:gd name="connsiteX13" fmla="*/ 6936303 w 12192000"/>
              <a:gd name="connsiteY13" fmla="*/ 2798203 h 2877832"/>
              <a:gd name="connsiteX14" fmla="*/ 6790448 w 12192000"/>
              <a:gd name="connsiteY14" fmla="*/ 2809564 h 2877832"/>
              <a:gd name="connsiteX15" fmla="*/ 6799941 w 12192000"/>
              <a:gd name="connsiteY15" fmla="*/ 2811384 h 2877832"/>
              <a:gd name="connsiteX16" fmla="*/ 6835432 w 12192000"/>
              <a:gd name="connsiteY16" fmla="*/ 2809677 h 2877832"/>
              <a:gd name="connsiteX17" fmla="*/ 6884003 w 12192000"/>
              <a:gd name="connsiteY17" fmla="*/ 2806699 h 2877832"/>
              <a:gd name="connsiteX18" fmla="*/ 7578771 w 12192000"/>
              <a:gd name="connsiteY18" fmla="*/ 2774172 h 2877832"/>
              <a:gd name="connsiteX19" fmla="*/ 8623845 w 12192000"/>
              <a:gd name="connsiteY19" fmla="*/ 2687275 h 2877832"/>
              <a:gd name="connsiteX20" fmla="*/ 9479970 w 12192000"/>
              <a:gd name="connsiteY20" fmla="*/ 2583369 h 2877832"/>
              <a:gd name="connsiteX21" fmla="*/ 10629308 w 12192000"/>
              <a:gd name="connsiteY21" fmla="*/ 2389212 h 2877832"/>
              <a:gd name="connsiteX22" fmla="*/ 11998498 w 12192000"/>
              <a:gd name="connsiteY22" fmla="*/ 2063218 h 2877832"/>
              <a:gd name="connsiteX23" fmla="*/ 12192000 w 12192000"/>
              <a:gd name="connsiteY23" fmla="*/ 2006219 h 2877832"/>
              <a:gd name="connsiteX24" fmla="*/ 12192000 w 12192000"/>
              <a:gd name="connsiteY24" fmla="*/ 2060956 h 2877832"/>
              <a:gd name="connsiteX25" fmla="*/ 11829257 w 12192000"/>
              <a:gd name="connsiteY25" fmla="*/ 2166255 h 2877832"/>
              <a:gd name="connsiteX26" fmla="*/ 10939183 w 12192000"/>
              <a:gd name="connsiteY26" fmla="*/ 2380770 h 2877832"/>
              <a:gd name="connsiteX27" fmla="*/ 9985530 w 12192000"/>
              <a:gd name="connsiteY27" fmla="*/ 2560775 h 2877832"/>
              <a:gd name="connsiteX28" fmla="*/ 9186882 w 12192000"/>
              <a:gd name="connsiteY28" fmla="*/ 2676722 h 2877832"/>
              <a:gd name="connsiteX29" fmla="*/ 8578198 w 12192000"/>
              <a:gd name="connsiteY29" fmla="*/ 2746241 h 2877832"/>
              <a:gd name="connsiteX30" fmla="*/ 7864358 w 12192000"/>
              <a:gd name="connsiteY30" fmla="*/ 2807692 h 2877832"/>
              <a:gd name="connsiteX31" fmla="*/ 6935502 w 12192000"/>
              <a:gd name="connsiteY31" fmla="*/ 2859086 h 2877832"/>
              <a:gd name="connsiteX32" fmla="*/ 6477750 w 12192000"/>
              <a:gd name="connsiteY32" fmla="*/ 2872989 h 2877832"/>
              <a:gd name="connsiteX33" fmla="*/ 6362294 w 12192000"/>
              <a:gd name="connsiteY33" fmla="*/ 2877832 h 2877832"/>
              <a:gd name="connsiteX34" fmla="*/ 6057129 w 12192000"/>
              <a:gd name="connsiteY34" fmla="*/ 2877832 h 2877832"/>
              <a:gd name="connsiteX35" fmla="*/ 5977784 w 12192000"/>
              <a:gd name="connsiteY35" fmla="*/ 2873238 h 2877832"/>
              <a:gd name="connsiteX36" fmla="*/ 5265087 w 12192000"/>
              <a:gd name="connsiteY36" fmla="*/ 2836989 h 2877832"/>
              <a:gd name="connsiteX37" fmla="*/ 4346277 w 12192000"/>
              <a:gd name="connsiteY37" fmla="*/ 2774919 h 2877832"/>
              <a:gd name="connsiteX38" fmla="*/ 3373045 w 12192000"/>
              <a:gd name="connsiteY38" fmla="*/ 2676350 h 2877832"/>
              <a:gd name="connsiteX39" fmla="*/ 2362173 w 12192000"/>
              <a:gd name="connsiteY39" fmla="*/ 2557423 h 2877832"/>
              <a:gd name="connsiteX40" fmla="*/ 1233178 w 12192000"/>
              <a:gd name="connsiteY40" fmla="*/ 2384247 h 2877832"/>
              <a:gd name="connsiteX41" fmla="*/ 68500 w 12192000"/>
              <a:gd name="connsiteY41" fmla="*/ 2144540 h 2877832"/>
              <a:gd name="connsiteX42" fmla="*/ 0 w 12192000"/>
              <a:gd name="connsiteY42" fmla="*/ 2127185 h 2877832"/>
              <a:gd name="connsiteX43" fmla="*/ 0 w 12192000"/>
              <a:gd name="connsiteY43" fmla="*/ 2070696 h 2877832"/>
              <a:gd name="connsiteX44" fmla="*/ 72441 w 12192000"/>
              <a:gd name="connsiteY44" fmla="*/ 2089473 h 2877832"/>
              <a:gd name="connsiteX45" fmla="*/ 600716 w 12192000"/>
              <a:gd name="connsiteY45" fmla="*/ 2207843 h 2877832"/>
              <a:gd name="connsiteX46" fmla="*/ 1769512 w 12192000"/>
              <a:gd name="connsiteY46" fmla="*/ 2418011 h 2877832"/>
              <a:gd name="connsiteX47" fmla="*/ 2613554 w 12192000"/>
              <a:gd name="connsiteY47" fmla="*/ 2534953 h 2877832"/>
              <a:gd name="connsiteX48" fmla="*/ 2581134 w 12192000"/>
              <a:gd name="connsiteY48" fmla="*/ 2525022 h 2877832"/>
              <a:gd name="connsiteX49" fmla="*/ 1112635 w 12192000"/>
              <a:gd name="connsiteY49" fmla="*/ 2192325 h 2877832"/>
              <a:gd name="connsiteX50" fmla="*/ 420412 w 12192000"/>
              <a:gd name="connsiteY50" fmla="*/ 1992892 h 2877832"/>
              <a:gd name="connsiteX51" fmla="*/ 0 w 12192000"/>
              <a:gd name="connsiteY51" fmla="*/ 1853975 h 2877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000" h="2877832">
                <a:moveTo>
                  <a:pt x="6789701" y="2809623"/>
                </a:moveTo>
                <a:lnTo>
                  <a:pt x="6788702" y="2809701"/>
                </a:lnTo>
                <a:lnTo>
                  <a:pt x="6788476" y="2810235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1915388"/>
                </a:lnTo>
                <a:lnTo>
                  <a:pt x="12061096" y="1954428"/>
                </a:lnTo>
                <a:cubicBezTo>
                  <a:pt x="11933500" y="1990642"/>
                  <a:pt x="11805390" y="2025171"/>
                  <a:pt x="11676800" y="2058003"/>
                </a:cubicBezTo>
                <a:cubicBezTo>
                  <a:pt x="11262789" y="2165510"/>
                  <a:pt x="10845343" y="2259112"/>
                  <a:pt x="10425355" y="2341542"/>
                </a:cubicBezTo>
                <a:cubicBezTo>
                  <a:pt x="10092810" y="2406753"/>
                  <a:pt x="9759033" y="2465150"/>
                  <a:pt x="9424022" y="2516704"/>
                </a:cubicBezTo>
                <a:cubicBezTo>
                  <a:pt x="9102997" y="2566361"/>
                  <a:pt x="8781133" y="2610928"/>
                  <a:pt x="8458419" y="2650405"/>
                </a:cubicBezTo>
                <a:cubicBezTo>
                  <a:pt x="8211360" y="2680571"/>
                  <a:pt x="7963792" y="2706144"/>
                  <a:pt x="7715970" y="2730352"/>
                </a:cubicBezTo>
                <a:lnTo>
                  <a:pt x="6951716" y="2796132"/>
                </a:lnTo>
                <a:lnTo>
                  <a:pt x="6936303" y="2798203"/>
                </a:lnTo>
                <a:lnTo>
                  <a:pt x="6790448" y="2809564"/>
                </a:lnTo>
                <a:lnTo>
                  <a:pt x="6799941" y="2811384"/>
                </a:lnTo>
                <a:cubicBezTo>
                  <a:pt x="6811623" y="2811850"/>
                  <a:pt x="6823734" y="2809677"/>
                  <a:pt x="6835432" y="2809677"/>
                </a:cubicBezTo>
                <a:cubicBezTo>
                  <a:pt x="6851580" y="2809677"/>
                  <a:pt x="6867729" y="2807070"/>
                  <a:pt x="6884003" y="2806699"/>
                </a:cubicBezTo>
                <a:cubicBezTo>
                  <a:pt x="7115805" y="2801237"/>
                  <a:pt x="7347351" y="2789070"/>
                  <a:pt x="7578771" y="2774172"/>
                </a:cubicBezTo>
                <a:cubicBezTo>
                  <a:pt x="7927552" y="2751704"/>
                  <a:pt x="8276080" y="2723525"/>
                  <a:pt x="8623845" y="2687275"/>
                </a:cubicBezTo>
                <a:cubicBezTo>
                  <a:pt x="8909939" y="2657977"/>
                  <a:pt x="9195310" y="2623342"/>
                  <a:pt x="9479970" y="2583369"/>
                </a:cubicBezTo>
                <a:cubicBezTo>
                  <a:pt x="9864901" y="2528995"/>
                  <a:pt x="10248014" y="2464281"/>
                  <a:pt x="10629308" y="2389212"/>
                </a:cubicBezTo>
                <a:cubicBezTo>
                  <a:pt x="11090114" y="2298092"/>
                  <a:pt x="11546975" y="2190586"/>
                  <a:pt x="11998498" y="2063218"/>
                </a:cubicBezTo>
                <a:lnTo>
                  <a:pt x="12192000" y="2006219"/>
                </a:lnTo>
                <a:lnTo>
                  <a:pt x="12192000" y="2060956"/>
                </a:lnTo>
                <a:lnTo>
                  <a:pt x="11829257" y="2166255"/>
                </a:lnTo>
                <a:cubicBezTo>
                  <a:pt x="11534769" y="2245952"/>
                  <a:pt x="11238120" y="2316838"/>
                  <a:pt x="10939183" y="2380770"/>
                </a:cubicBezTo>
                <a:cubicBezTo>
                  <a:pt x="10622824" y="2448552"/>
                  <a:pt x="10304941" y="2508549"/>
                  <a:pt x="9985530" y="2560775"/>
                </a:cubicBezTo>
                <a:cubicBezTo>
                  <a:pt x="9720036" y="2604224"/>
                  <a:pt x="9453814" y="2642869"/>
                  <a:pt x="9186882" y="2676722"/>
                </a:cubicBezTo>
                <a:cubicBezTo>
                  <a:pt x="8984197" y="2702296"/>
                  <a:pt x="8781514" y="2726379"/>
                  <a:pt x="8578198" y="2746241"/>
                </a:cubicBezTo>
                <a:cubicBezTo>
                  <a:pt x="8340547" y="2768961"/>
                  <a:pt x="8102644" y="2790436"/>
                  <a:pt x="7864358" y="2807692"/>
                </a:cubicBezTo>
                <a:cubicBezTo>
                  <a:pt x="7554994" y="2830036"/>
                  <a:pt x="7245502" y="2847914"/>
                  <a:pt x="6935502" y="2859086"/>
                </a:cubicBezTo>
                <a:cubicBezTo>
                  <a:pt x="6782917" y="2864549"/>
                  <a:pt x="6630334" y="2868397"/>
                  <a:pt x="6477750" y="2872989"/>
                </a:cubicBezTo>
                <a:cubicBezTo>
                  <a:pt x="6439195" y="2870905"/>
                  <a:pt x="6400529" y="2872530"/>
                  <a:pt x="6362294" y="2877832"/>
                </a:cubicBezTo>
                <a:lnTo>
                  <a:pt x="6057129" y="2877832"/>
                </a:lnTo>
                <a:lnTo>
                  <a:pt x="5977784" y="2873238"/>
                </a:lnTo>
                <a:cubicBezTo>
                  <a:pt x="5740261" y="2860825"/>
                  <a:pt x="5502739" y="2847046"/>
                  <a:pt x="5265087" y="2836989"/>
                </a:cubicBezTo>
                <a:cubicBezTo>
                  <a:pt x="4958267" y="2824573"/>
                  <a:pt x="4651826" y="2804093"/>
                  <a:pt x="4346277" y="2774919"/>
                </a:cubicBezTo>
                <a:cubicBezTo>
                  <a:pt x="4021654" y="2744007"/>
                  <a:pt x="3697795" y="2709372"/>
                  <a:pt x="3373045" y="2676350"/>
                </a:cubicBezTo>
                <a:cubicBezTo>
                  <a:pt x="3035412" y="2642088"/>
                  <a:pt x="2698456" y="2602449"/>
                  <a:pt x="2362173" y="2557423"/>
                </a:cubicBezTo>
                <a:cubicBezTo>
                  <a:pt x="1984692" y="2507270"/>
                  <a:pt x="1608364" y="2449544"/>
                  <a:pt x="1233178" y="2384247"/>
                </a:cubicBezTo>
                <a:cubicBezTo>
                  <a:pt x="842181" y="2315534"/>
                  <a:pt x="453758" y="2237046"/>
                  <a:pt x="68500" y="2144540"/>
                </a:cubicBezTo>
                <a:lnTo>
                  <a:pt x="0" y="2127185"/>
                </a:lnTo>
                <a:lnTo>
                  <a:pt x="0" y="2070696"/>
                </a:lnTo>
                <a:lnTo>
                  <a:pt x="72441" y="2089473"/>
                </a:lnTo>
                <a:cubicBezTo>
                  <a:pt x="247961" y="2131651"/>
                  <a:pt x="424164" y="2170911"/>
                  <a:pt x="600716" y="2207843"/>
                </a:cubicBezTo>
                <a:cubicBezTo>
                  <a:pt x="988279" y="2288657"/>
                  <a:pt x="1378133" y="2357555"/>
                  <a:pt x="1769512" y="2418011"/>
                </a:cubicBezTo>
                <a:cubicBezTo>
                  <a:pt x="2052426" y="2461587"/>
                  <a:pt x="2335725" y="2501684"/>
                  <a:pt x="2613554" y="2534953"/>
                </a:cubicBezTo>
                <a:cubicBezTo>
                  <a:pt x="2605544" y="2537560"/>
                  <a:pt x="2594611" y="2527504"/>
                  <a:pt x="2581134" y="2525022"/>
                </a:cubicBezTo>
                <a:cubicBezTo>
                  <a:pt x="2087178" y="2433070"/>
                  <a:pt x="1597684" y="2322177"/>
                  <a:pt x="1112635" y="2192325"/>
                </a:cubicBezTo>
                <a:cubicBezTo>
                  <a:pt x="880453" y="2130254"/>
                  <a:pt x="649713" y="2063776"/>
                  <a:pt x="420412" y="1992892"/>
                </a:cubicBezTo>
                <a:lnTo>
                  <a:pt x="0" y="1853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D159D1-DF64-1C81-1AC5-1E6476F4F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736" y="590296"/>
            <a:ext cx="3599688" cy="1463040"/>
          </a:xfrm>
        </p:spPr>
        <p:txBody>
          <a:bodyPr anchor="ctr">
            <a:normAutofit/>
          </a:bodyPr>
          <a:lstStyle/>
          <a:p>
            <a:r>
              <a:rPr lang="ru-RU" sz="3000">
                <a:solidFill>
                  <a:srgbClr val="FFFFFF"/>
                </a:solidFill>
                <a:ea typeface="+mj-lt"/>
                <a:cs typeface="+mj-lt"/>
              </a:rPr>
              <a:t>Композиция менеджеров в BattleActivity</a:t>
            </a:r>
            <a:endParaRPr lang="ru-RU" sz="3000">
              <a:solidFill>
                <a:srgbClr val="FFFFFF"/>
              </a:solidFill>
            </a:endParaRP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59FA8C2E-A5A7-4490-927A-7CD58343ED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353312"/>
            <a:ext cx="1554480" cy="18288"/>
          </a:xfrm>
          <a:custGeom>
            <a:avLst/>
            <a:gdLst>
              <a:gd name="csX0" fmla="*/ 0 w 1554480"/>
              <a:gd name="csY0" fmla="*/ 0 h 18288"/>
              <a:gd name="csX1" fmla="*/ 549250 w 1554480"/>
              <a:gd name="csY1" fmla="*/ 0 h 18288"/>
              <a:gd name="csX2" fmla="*/ 1082954 w 1554480"/>
              <a:gd name="csY2" fmla="*/ 0 h 18288"/>
              <a:gd name="csX3" fmla="*/ 1554480 w 1554480"/>
              <a:gd name="csY3" fmla="*/ 0 h 18288"/>
              <a:gd name="csX4" fmla="*/ 1554480 w 1554480"/>
              <a:gd name="csY4" fmla="*/ 18288 h 18288"/>
              <a:gd name="csX5" fmla="*/ 1067410 w 1554480"/>
              <a:gd name="csY5" fmla="*/ 18288 h 18288"/>
              <a:gd name="csX6" fmla="*/ 549250 w 1554480"/>
              <a:gd name="csY6" fmla="*/ 18288 h 18288"/>
              <a:gd name="csX7" fmla="*/ 0 w 1554480"/>
              <a:gd name="csY7" fmla="*/ 18288 h 18288"/>
              <a:gd name="csX8" fmla="*/ 0 w 1554480"/>
              <a:gd name="csY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41275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22A9A5F-A198-0CCA-21F3-A48FF647E1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35422" y="813816"/>
            <a:ext cx="7978649" cy="1554480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>
              <a:buNone/>
            </a:pPr>
            <a:r>
              <a:rPr lang="ru-RU" sz="2400">
                <a:solidFill>
                  <a:srgbClr val="FFFFFF"/>
                </a:solidFill>
                <a:latin typeface="Times New Roman"/>
                <a:cs typeface="Times New Roman"/>
              </a:rPr>
              <a:t>Экран боя «собирает» в себе независимые модули.</a:t>
            </a:r>
          </a:p>
          <a:p>
            <a:pPr marL="0" indent="0">
              <a:buNone/>
            </a:pPr>
            <a:r>
              <a:rPr lang="ru-RU" sz="2400">
                <a:solidFill>
                  <a:srgbClr val="FFFFFF"/>
                </a:solidFill>
                <a:latin typeface="Times New Roman"/>
                <a:cs typeface="Times New Roman"/>
              </a:rPr>
              <a:t>Каждый менеджер получает доступ к общему BattleState.</a:t>
            </a:r>
          </a:p>
          <a:p>
            <a:pPr marL="0" indent="0">
              <a:buNone/>
            </a:pPr>
            <a:r>
              <a:rPr lang="ru-RU" sz="2400">
                <a:solidFill>
                  <a:srgbClr val="FFFFFF"/>
                </a:solidFill>
                <a:latin typeface="Times New Roman"/>
                <a:cs typeface="Times New Roman"/>
              </a:rPr>
              <a:t>Такой подход упрощает тестирование и модификацию отдельных частей.</a:t>
            </a:r>
          </a:p>
          <a:p>
            <a:pPr marL="0" indent="0">
              <a:buNone/>
            </a:pPr>
            <a:endParaRPr lang="ru-RU" sz="2000">
              <a:solidFill>
                <a:srgbClr val="FFFFFF"/>
              </a:solidFill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5580DCC-2806-3C0D-9E13-1825A4E94F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2973354"/>
            <a:ext cx="10917936" cy="3275379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20891435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FC4D8B-04C7-A0F6-C391-94C20DE690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ru-RU" sz="5400">
                <a:ea typeface="+mj-lt"/>
                <a:cs typeface="+mj-lt"/>
              </a:rPr>
              <a:t>Классы игрового ядра</a:t>
            </a:r>
            <a:endParaRPr lang="ru-RU" sz="5400"/>
          </a:p>
        </p:txBody>
      </p:sp>
      <p:sp>
        <p:nvSpPr>
          <p:cNvPr id="18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BC23398-A69A-A6F2-CF38-4213508568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880" y="2781459"/>
            <a:ext cx="4975109" cy="3605148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Font typeface="Wingdings" panose="020B0604020202020204" pitchFamily="34" charset="0"/>
              <a:buChar char="v"/>
            </a:pPr>
            <a:r>
              <a:rPr lang="ru-RU" sz="1800">
                <a:latin typeface="Times New Roman"/>
                <a:ea typeface="+mn-lt"/>
                <a:cs typeface="Times New Roman"/>
              </a:rPr>
              <a:t>Наследование: Три экрана </a:t>
            </a:r>
            <a:r>
              <a:rPr lang="ru-RU" sz="1800" dirty="0">
                <a:latin typeface="Times New Roman"/>
                <a:ea typeface="+mn-lt"/>
                <a:cs typeface="Times New Roman"/>
              </a:rPr>
              <a:t>(MainActivity, DeckActivity, BattleActivity) наследуют базовый AppCompatActivity.</a:t>
            </a:r>
            <a:endParaRPr lang="ru-RU" sz="1800">
              <a:latin typeface="Times New Roman"/>
              <a:cs typeface="Times New Roman"/>
            </a:endParaRPr>
          </a:p>
          <a:p>
            <a:pPr>
              <a:buFont typeface="Wingdings" panose="020B0604020202020204" pitchFamily="34" charset="0"/>
              <a:buChar char="v"/>
            </a:pPr>
            <a:r>
              <a:rPr lang="ru-RU" sz="1800">
                <a:latin typeface="Times New Roman"/>
                <a:ea typeface="+mn-lt"/>
                <a:cs typeface="Times New Roman"/>
              </a:rPr>
              <a:t>Реализация: BattleActivity реализует </a:t>
            </a:r>
            <a:r>
              <a:rPr lang="ru-RU" sz="1800" dirty="0">
                <a:latin typeface="Times New Roman"/>
                <a:ea typeface="+mn-lt"/>
                <a:cs typeface="Times New Roman"/>
              </a:rPr>
              <a:t>контракт BattleInterface.</a:t>
            </a:r>
            <a:endParaRPr lang="ru-RU" sz="1800">
              <a:latin typeface="Times New Roman"/>
              <a:cs typeface="Times New Roman"/>
            </a:endParaRPr>
          </a:p>
          <a:p>
            <a:pPr>
              <a:buFont typeface="Wingdings" panose="020B0604020202020204" pitchFamily="34" charset="0"/>
              <a:buChar char="v"/>
            </a:pPr>
            <a:r>
              <a:rPr lang="ru-RU" sz="1800">
                <a:latin typeface="Times New Roman"/>
                <a:ea typeface="+mn-lt"/>
                <a:cs typeface="Times New Roman"/>
              </a:rPr>
              <a:t>Композиция: BattleActivity собирает в себе менеджеры </a:t>
            </a:r>
            <a:r>
              <a:rPr lang="ru-RU" sz="1800" dirty="0">
                <a:latin typeface="Times New Roman"/>
                <a:ea typeface="+mn-lt"/>
                <a:cs typeface="Times New Roman"/>
              </a:rPr>
              <a:t>(ScoreCalculator, WeatherManager, GraveyardManager, EnemyAI).</a:t>
            </a:r>
            <a:endParaRPr lang="ru-RU" sz="1800">
              <a:latin typeface="Times New Roman"/>
              <a:cs typeface="Times New Roman"/>
            </a:endParaRPr>
          </a:p>
          <a:p>
            <a:pPr>
              <a:buFont typeface="Wingdings" panose="020B0604020202020204" pitchFamily="34" charset="0"/>
              <a:buChar char="v"/>
            </a:pPr>
            <a:r>
              <a:rPr lang="ru-RU" sz="1800">
                <a:latin typeface="Times New Roman"/>
                <a:ea typeface="+mn-lt"/>
                <a:cs typeface="Times New Roman"/>
              </a:rPr>
              <a:t>Зависимости: Менеджеры </a:t>
            </a:r>
            <a:r>
              <a:rPr lang="ru-RU" sz="1800" dirty="0">
                <a:latin typeface="Times New Roman"/>
                <a:ea typeface="+mn-lt"/>
                <a:cs typeface="Times New Roman"/>
              </a:rPr>
              <a:t>обращаются к BattleState (читают/пишут состояние) и CardsData</a:t>
            </a:r>
            <a:r>
              <a:rPr lang="ru-RU" sz="1800">
                <a:latin typeface="Times New Roman"/>
                <a:ea typeface="+mn-lt"/>
                <a:cs typeface="Times New Roman"/>
              </a:rPr>
              <a:t> (в роли справочника).</a:t>
            </a:r>
            <a:endParaRPr lang="ru-RU" sz="1800"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ru-RU" sz="1400"/>
          </a:p>
          <a:p>
            <a:pPr>
              <a:buFont typeface="Wingdings" panose="020B0604020202020204" pitchFamily="34" charset="0"/>
              <a:buChar char="v"/>
            </a:pPr>
            <a:endParaRPr lang="ru-RU" sz="140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D5A5868-AF98-5678-8478-5F5DDC8E164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710" r="25355" b="-1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9944930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550BE34-C2B8-49B8-8519-67A8CAD51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7457DD9-5A45-400A-AB4B-4B4EDECA2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67A507-BF87-061C-F6A1-BCD60407D6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746" y="586822"/>
            <a:ext cx="3560252" cy="1645920"/>
          </a:xfrm>
        </p:spPr>
        <p:txBody>
          <a:bodyPr>
            <a:normAutofit/>
          </a:bodyPr>
          <a:lstStyle/>
          <a:p>
            <a:r>
              <a:rPr lang="ru-RU" sz="2200">
                <a:ea typeface="+mj-lt"/>
                <a:cs typeface="+mj-lt"/>
              </a:rPr>
              <a:t>Разработчика интерфейса: Организация пользовательского интерфейса</a:t>
            </a:r>
            <a:endParaRPr lang="ru-RU" sz="22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41CF7D6-A660-431A-B0BB-140A0D5556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570A85B-3810-4F95-97B0-CBF4CCDB3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94064D0-8E6C-8F6B-724B-EB7EDC3FED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3804" y="810342"/>
            <a:ext cx="6906876" cy="1645920"/>
          </a:xfrm>
        </p:spPr>
        <p:txBody>
          <a:bodyPr vert="horz" lIns="91440" tIns="45720" rIns="91440" bIns="45720" rtlCol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Font typeface="Wingdings" panose="020B0604020202020204" pitchFamily="34" charset="0"/>
              <a:buChar char="v"/>
            </a:pPr>
            <a:r>
              <a:rPr lang="ru-RU" sz="1400">
                <a:latin typeface="Times New Roman"/>
                <a:cs typeface="Times New Roman"/>
              </a:rPr>
              <a:t>Технология: Построение UI на базе XML-разметки (декларативный подход).</a:t>
            </a:r>
            <a:endParaRPr lang="ru-RU"/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20B0604020202020204" pitchFamily="34" charset="0"/>
              <a:buChar char="v"/>
            </a:pPr>
            <a:r>
              <a:rPr lang="ru-RU" sz="1400">
                <a:latin typeface="Times New Roman"/>
                <a:cs typeface="Times New Roman"/>
              </a:rPr>
              <a:t>Экраны: Отдельные Activity для каждого этапа (MainActivity, DeckActivity, BattleActivity).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20B0604020202020204" pitchFamily="34" charset="0"/>
              <a:buChar char="v"/>
            </a:pPr>
            <a:r>
              <a:rPr lang="ru-RU" sz="1400">
                <a:latin typeface="Times New Roman"/>
                <a:cs typeface="Times New Roman"/>
              </a:rPr>
              <a:t>Списки карт: Использование RecyclerView для эффективного отображения.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20B0604020202020204" pitchFamily="34" charset="0"/>
              <a:buChar char="v"/>
            </a:pPr>
            <a:r>
              <a:rPr lang="ru-RU" sz="1400">
                <a:latin typeface="Times New Roman"/>
                <a:cs typeface="Times New Roman"/>
              </a:rPr>
              <a:t>Адаптер: Универсальный CardsAdapter для отрисовки карт везде (в руке, на поле, в колоде).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20B0604020202020204" pitchFamily="34" charset="0"/>
              <a:buChar char="v"/>
            </a:pPr>
            <a:r>
              <a:rPr lang="ru-RU" sz="1400">
                <a:latin typeface="Times New Roman"/>
                <a:cs typeface="Times New Roman"/>
              </a:rPr>
              <a:t>Обёртки: Специализированные View-классы (например, CardPreviewDialogFragment) инкапсулируют сложную логику отображения.</a:t>
            </a:r>
          </a:p>
          <a:p>
            <a:pPr>
              <a:buFont typeface="Wingdings" panose="020B0604020202020204" pitchFamily="34" charset="0"/>
              <a:buChar char="v"/>
            </a:pPr>
            <a:endParaRPr lang="ru-RU" sz="14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75D80B7-B062-5160-41E7-8A8BB2B1E3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4304" y="2835656"/>
            <a:ext cx="7882023" cy="3636264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26855390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D4967C-C3C9-B8C0-B1BD-8421BCD7C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>
                <a:solidFill>
                  <a:srgbClr val="000000"/>
                </a:solidFill>
                <a:ea typeface="+mj-lt"/>
                <a:cs typeface="+mj-lt"/>
              </a:rPr>
              <a:t>Инкапсуляция: связь UI с ядром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1E3B217-26CB-DB5C-17FE-72764F1B68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ru-RU" sz="1800"/>
              <a:t>Правило: Активности не меняют данные напрямую — они вызывают публичные методы ядра.</a:t>
            </a:r>
          </a:p>
          <a:p>
            <a:r>
              <a:rPr lang="ru-RU" sz="1800"/>
              <a:t>Ввод: Пользователь кликает по карте → UI вызывает playCard().</a:t>
            </a:r>
          </a:p>
          <a:p>
            <a:r>
              <a:rPr lang="ru-RU" sz="1800"/>
              <a:t>Логика: Ядро само решает, куда положить карту, какие способности применить и меняет BattleState.</a:t>
            </a:r>
          </a:p>
          <a:p>
            <a:r>
              <a:rPr lang="ru-RU" sz="1800"/>
              <a:t>Вывод: Ядро через колбэки сообщает UI, что пора перерисовать экран (например, updateGameUI()).</a:t>
            </a:r>
          </a:p>
          <a:p>
            <a:r>
              <a:rPr lang="ru-RU" sz="1800"/>
              <a:t>Результат: UI и логика не могут «разойтись», данные меняются в одном месте.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50D0D1A7-8CEE-6029-9316-8CE4CD77A331}"/>
              </a:ext>
            </a:extLst>
          </p:cNvPr>
          <p:cNvSpPr/>
          <p:nvPr/>
        </p:nvSpPr>
        <p:spPr>
          <a:xfrm>
            <a:off x="1056640" y="4257040"/>
            <a:ext cx="8879839" cy="19202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b="1">
                <a:latin typeface="Times New Roman"/>
                <a:cs typeface="Times New Roman"/>
              </a:rPr>
              <a:t>Клик игрока → UI (Activity) → Вызов метода → Ядро (Менеджеры) → Обновление BattleState → Колбэк в UI → Перерисовка экрана</a:t>
            </a:r>
          </a:p>
        </p:txBody>
      </p:sp>
    </p:spTree>
    <p:extLst>
      <p:ext uri="{BB962C8B-B14F-4D97-AF65-F5344CB8AC3E}">
        <p14:creationId xmlns:p14="http://schemas.microsoft.com/office/powerpoint/2010/main" val="28888051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21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3DCE8A-9246-D0D1-A645-0A40F21F0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ru-RU" sz="4600">
                <a:latin typeface="Times New Roman"/>
                <a:ea typeface="+mj-lt"/>
                <a:cs typeface="Times New Roman"/>
              </a:rPr>
              <a:t>Взаимодействие пользователя и системы</a:t>
            </a:r>
            <a:endParaRPr lang="ru-RU" sz="4600">
              <a:latin typeface="Times New Roman"/>
              <a:cs typeface="Times New Roman"/>
            </a:endParaRPr>
          </a:p>
        </p:txBody>
      </p:sp>
      <p:sp>
        <p:nvSpPr>
          <p:cNvPr id="33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3EBA661-0942-2254-37CD-359708BF52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493" y="1939236"/>
            <a:ext cx="6713552" cy="411917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ru-RU" sz="1800">
                <a:latin typeface="Times New Roman"/>
                <a:cs typeface="Times New Roman"/>
              </a:rPr>
              <a:t>В приложении присутствуют все необходимые возможности взаимодействия пользователя и системы, основные из которых перечислены ниже:</a:t>
            </a:r>
            <a:endParaRPr lang="ru-RU" sz="1800" dirty="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ru-RU" sz="1800">
                <a:latin typeface="Times New Roman"/>
                <a:cs typeface="Times New Roman"/>
              </a:rPr>
              <a:t>Ввод (жесты):</a:t>
            </a:r>
            <a:endParaRPr lang="ru-RU" sz="1800" dirty="0">
              <a:latin typeface="Times New Roman"/>
              <a:cs typeface="Times New Roman"/>
            </a:endParaRPr>
          </a:p>
          <a:p>
            <a:pPr>
              <a:buFont typeface="Wingdings" panose="020B0604020202020204" pitchFamily="34" charset="0"/>
              <a:buChar char="v"/>
            </a:pPr>
            <a:r>
              <a:rPr lang="ru-RU" sz="1800">
                <a:latin typeface="Times New Roman"/>
                <a:cs typeface="Times New Roman"/>
              </a:rPr>
              <a:t>Двойной клик по карте — розыгрыш.</a:t>
            </a:r>
            <a:endParaRPr lang="ru-RU" sz="1800" dirty="0">
              <a:latin typeface="Times New Roman"/>
              <a:cs typeface="Times New Roman"/>
            </a:endParaRPr>
          </a:p>
          <a:p>
            <a:pPr>
              <a:buFont typeface="Wingdings" panose="020B0604020202020204" pitchFamily="34" charset="0"/>
              <a:buChar char="v"/>
            </a:pPr>
            <a:r>
              <a:rPr lang="ru-RU" sz="1800">
                <a:latin typeface="Times New Roman"/>
                <a:cs typeface="Times New Roman"/>
              </a:rPr>
              <a:t>Долгое нажатие — просмотр описания карты.</a:t>
            </a:r>
            <a:endParaRPr lang="ru-RU" sz="1800" dirty="0">
              <a:latin typeface="Times New Roman"/>
              <a:cs typeface="Times New Roman"/>
            </a:endParaRPr>
          </a:p>
          <a:p>
            <a:pPr>
              <a:buFont typeface="Wingdings" panose="020B0604020202020204" pitchFamily="34" charset="0"/>
              <a:buChar char="v"/>
            </a:pPr>
            <a:r>
              <a:rPr lang="ru-RU" sz="1800">
                <a:latin typeface="Times New Roman"/>
                <a:cs typeface="Times New Roman"/>
              </a:rPr>
              <a:t>Клик по кнопке «Пас» — передача хода.</a:t>
            </a:r>
            <a:endParaRPr lang="ru-RU" sz="1800" dirty="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ru-RU" sz="1800">
                <a:latin typeface="Times New Roman"/>
                <a:cs typeface="Times New Roman"/>
              </a:rPr>
              <a:t>Вывод (визуализация):</a:t>
            </a:r>
            <a:endParaRPr lang="ru-RU" sz="1800" dirty="0">
              <a:latin typeface="Times New Roman"/>
              <a:cs typeface="Times New Roman"/>
            </a:endParaRPr>
          </a:p>
          <a:p>
            <a:pPr>
              <a:buFont typeface="Wingdings" panose="020B0604020202020204" pitchFamily="34" charset="0"/>
              <a:buChar char="v"/>
            </a:pPr>
            <a:r>
              <a:rPr lang="ru-RU" sz="1800">
                <a:latin typeface="Times New Roman"/>
                <a:cs typeface="Times New Roman"/>
              </a:rPr>
              <a:t>Суммарный счёт и очки каждого ряда (обновляются мгновенно).</a:t>
            </a:r>
            <a:endParaRPr lang="ru-RU" sz="1800" dirty="0">
              <a:latin typeface="Times New Roman"/>
              <a:cs typeface="Times New Roman"/>
            </a:endParaRPr>
          </a:p>
          <a:p>
            <a:pPr>
              <a:buFont typeface="Wingdings" panose="020B0604020202020204" pitchFamily="34" charset="0"/>
              <a:buChar char="v"/>
            </a:pPr>
            <a:r>
              <a:rPr lang="ru-RU" sz="1800">
                <a:latin typeface="Times New Roman"/>
                <a:cs typeface="Times New Roman"/>
              </a:rPr>
              <a:t>Анимация перемещения карт по полю.</a:t>
            </a:r>
            <a:endParaRPr lang="ru-RU" sz="1800" dirty="0">
              <a:latin typeface="Times New Roman"/>
              <a:cs typeface="Times New Roman"/>
            </a:endParaRPr>
          </a:p>
          <a:p>
            <a:pPr>
              <a:buFont typeface="Wingdings" panose="020B0604020202020204" pitchFamily="34" charset="0"/>
              <a:buChar char="v"/>
            </a:pPr>
            <a:r>
              <a:rPr lang="ru-RU" sz="1800">
                <a:latin typeface="Times New Roman"/>
                <a:cs typeface="Times New Roman"/>
              </a:rPr>
              <a:t>Всплывающие сообщения (ход противника, объявление паса).</a:t>
            </a:r>
            <a:endParaRPr lang="ru-RU" sz="1800" dirty="0">
              <a:latin typeface="Times New Roman"/>
              <a:cs typeface="Times New Roman"/>
            </a:endParaRPr>
          </a:p>
          <a:p>
            <a:pPr>
              <a:buFont typeface="Wingdings" panose="020B0604020202020204" pitchFamily="34" charset="0"/>
              <a:buChar char="v"/>
            </a:pPr>
            <a:r>
              <a:rPr lang="ru-RU" sz="1800">
                <a:latin typeface="Times New Roman"/>
                <a:cs typeface="Times New Roman"/>
              </a:rPr>
              <a:t>Анимации активных погодные эффекты.</a:t>
            </a:r>
            <a:endParaRPr lang="ru-RU" sz="1800" dirty="0">
              <a:latin typeface="Times New Roman"/>
              <a:cs typeface="Times New Roman"/>
            </a:endParaRPr>
          </a:p>
          <a:p>
            <a:pPr>
              <a:buFont typeface="Wingdings" panose="020B0604020202020204" pitchFamily="34" charset="0"/>
              <a:buChar char="v"/>
            </a:pPr>
            <a:endParaRPr lang="ru-RU" sz="140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5A4E7D6-931C-E42F-B985-37C8044F326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045" t="13881" r="56663" b="42061"/>
          <a:stretch>
            <a:fillRect/>
          </a:stretch>
        </p:blipFill>
        <p:spPr>
          <a:xfrm>
            <a:off x="7658100" y="2396436"/>
            <a:ext cx="3727550" cy="3204145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865F960-FD14-4D99-91E8-2AC77F85FB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3771" y="-815"/>
            <a:ext cx="1895511" cy="1191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34969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53B475F8-50AE-46A0-9943-B2B63183D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B8A42B-AEF6-6F72-8B9C-661DC5D3CB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365125"/>
            <a:ext cx="6986015" cy="1776484"/>
          </a:xfrm>
        </p:spPr>
        <p:txBody>
          <a:bodyPr anchor="b">
            <a:normAutofit/>
          </a:bodyPr>
          <a:lstStyle/>
          <a:p>
            <a:r>
              <a:rPr lang="ru-RU" sz="5400">
                <a:ea typeface="+mj-lt"/>
                <a:cs typeface="+mj-lt"/>
              </a:rPr>
              <a:t>Реализованные экраны приложения</a:t>
            </a:r>
            <a:endParaRPr lang="ru-RU" sz="540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0BFD45F-52F3-799A-B822-C0F4A9BCEA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3674" y="443298"/>
            <a:ext cx="4207771" cy="1901416"/>
          </a:xfrm>
          <a:prstGeom prst="rect">
            <a:avLst/>
          </a:prstGeom>
        </p:spPr>
      </p:pic>
      <p:sp>
        <p:nvSpPr>
          <p:cNvPr id="20" name="sketch line">
            <a:extLst>
              <a:ext uri="{FF2B5EF4-FFF2-40B4-BE49-F238E27FC236}">
                <a16:creationId xmlns:a16="http://schemas.microsoft.com/office/drawing/2014/main" id="{75F6FDB4-2351-48C2-A863-2364A02343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2315691"/>
            <a:ext cx="4343400" cy="18288"/>
          </a:xfrm>
          <a:custGeom>
            <a:avLst/>
            <a:gdLst>
              <a:gd name="csX0" fmla="*/ 0 w 4343400"/>
              <a:gd name="csY0" fmla="*/ 0 h 18288"/>
              <a:gd name="csX1" fmla="*/ 577052 w 4343400"/>
              <a:gd name="csY1" fmla="*/ 0 h 18288"/>
              <a:gd name="csX2" fmla="*/ 1067235 w 4343400"/>
              <a:gd name="csY2" fmla="*/ 0 h 18288"/>
              <a:gd name="csX3" fmla="*/ 1600853 w 4343400"/>
              <a:gd name="csY3" fmla="*/ 0 h 18288"/>
              <a:gd name="csX4" fmla="*/ 2264773 w 4343400"/>
              <a:gd name="csY4" fmla="*/ 0 h 18288"/>
              <a:gd name="csX5" fmla="*/ 2841825 w 4343400"/>
              <a:gd name="csY5" fmla="*/ 0 h 18288"/>
              <a:gd name="csX6" fmla="*/ 3375442 w 4343400"/>
              <a:gd name="csY6" fmla="*/ 0 h 18288"/>
              <a:gd name="csX7" fmla="*/ 4343400 w 4343400"/>
              <a:gd name="csY7" fmla="*/ 0 h 18288"/>
              <a:gd name="csX8" fmla="*/ 4343400 w 4343400"/>
              <a:gd name="csY8" fmla="*/ 18288 h 18288"/>
              <a:gd name="csX9" fmla="*/ 3722914 w 4343400"/>
              <a:gd name="csY9" fmla="*/ 18288 h 18288"/>
              <a:gd name="csX10" fmla="*/ 3189297 w 4343400"/>
              <a:gd name="csY10" fmla="*/ 18288 h 18288"/>
              <a:gd name="csX11" fmla="*/ 2481943 w 4343400"/>
              <a:gd name="csY11" fmla="*/ 18288 h 18288"/>
              <a:gd name="csX12" fmla="*/ 1904891 w 4343400"/>
              <a:gd name="csY12" fmla="*/ 18288 h 18288"/>
              <a:gd name="csX13" fmla="*/ 1414707 w 4343400"/>
              <a:gd name="csY13" fmla="*/ 18288 h 18288"/>
              <a:gd name="csX14" fmla="*/ 750788 w 4343400"/>
              <a:gd name="csY14" fmla="*/ 18288 h 18288"/>
              <a:gd name="csX15" fmla="*/ 0 w 4343400"/>
              <a:gd name="csY15" fmla="*/ 18288 h 18288"/>
              <a:gd name="csX16" fmla="*/ 0 w 43434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343400" h="18288" fill="none" extrusionOk="0">
                <a:moveTo>
                  <a:pt x="0" y="0"/>
                </a:moveTo>
                <a:cubicBezTo>
                  <a:pt x="233209" y="-19550"/>
                  <a:pt x="330816" y="19068"/>
                  <a:pt x="577052" y="0"/>
                </a:cubicBezTo>
                <a:cubicBezTo>
                  <a:pt x="823288" y="-19068"/>
                  <a:pt x="875077" y="10360"/>
                  <a:pt x="1067235" y="0"/>
                </a:cubicBezTo>
                <a:cubicBezTo>
                  <a:pt x="1259393" y="-10360"/>
                  <a:pt x="1410699" y="2939"/>
                  <a:pt x="1600853" y="0"/>
                </a:cubicBezTo>
                <a:cubicBezTo>
                  <a:pt x="1791007" y="-2939"/>
                  <a:pt x="2101644" y="-26225"/>
                  <a:pt x="2264773" y="0"/>
                </a:cubicBezTo>
                <a:cubicBezTo>
                  <a:pt x="2427902" y="26225"/>
                  <a:pt x="2690426" y="-27726"/>
                  <a:pt x="2841825" y="0"/>
                </a:cubicBezTo>
                <a:cubicBezTo>
                  <a:pt x="2993224" y="27726"/>
                  <a:pt x="3172320" y="-18569"/>
                  <a:pt x="3375442" y="0"/>
                </a:cubicBezTo>
                <a:cubicBezTo>
                  <a:pt x="3578564" y="18569"/>
                  <a:pt x="4003119" y="21909"/>
                  <a:pt x="4343400" y="0"/>
                </a:cubicBezTo>
                <a:cubicBezTo>
                  <a:pt x="4343798" y="7429"/>
                  <a:pt x="4343380" y="10822"/>
                  <a:pt x="4343400" y="18288"/>
                </a:cubicBezTo>
                <a:cubicBezTo>
                  <a:pt x="4109047" y="14709"/>
                  <a:pt x="3996986" y="7919"/>
                  <a:pt x="3722914" y="18288"/>
                </a:cubicBezTo>
                <a:cubicBezTo>
                  <a:pt x="3448842" y="28657"/>
                  <a:pt x="3340973" y="29252"/>
                  <a:pt x="3189297" y="18288"/>
                </a:cubicBezTo>
                <a:cubicBezTo>
                  <a:pt x="3037621" y="7324"/>
                  <a:pt x="2636891" y="-9539"/>
                  <a:pt x="2481943" y="18288"/>
                </a:cubicBezTo>
                <a:cubicBezTo>
                  <a:pt x="2326995" y="46115"/>
                  <a:pt x="2131632" y="740"/>
                  <a:pt x="1904891" y="18288"/>
                </a:cubicBezTo>
                <a:cubicBezTo>
                  <a:pt x="1678150" y="35836"/>
                  <a:pt x="1575362" y="-3381"/>
                  <a:pt x="1414707" y="18288"/>
                </a:cubicBezTo>
                <a:cubicBezTo>
                  <a:pt x="1254052" y="39957"/>
                  <a:pt x="1051093" y="-335"/>
                  <a:pt x="750788" y="18288"/>
                </a:cubicBezTo>
                <a:cubicBezTo>
                  <a:pt x="450483" y="36911"/>
                  <a:pt x="293781" y="22900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343400" h="18288" stroke="0" extrusionOk="0">
                <a:moveTo>
                  <a:pt x="0" y="0"/>
                </a:moveTo>
                <a:cubicBezTo>
                  <a:pt x="212719" y="-28531"/>
                  <a:pt x="340561" y="-1164"/>
                  <a:pt x="577052" y="0"/>
                </a:cubicBezTo>
                <a:cubicBezTo>
                  <a:pt x="813543" y="1164"/>
                  <a:pt x="866967" y="-9376"/>
                  <a:pt x="1067235" y="0"/>
                </a:cubicBezTo>
                <a:cubicBezTo>
                  <a:pt x="1267503" y="9376"/>
                  <a:pt x="1485778" y="-20470"/>
                  <a:pt x="1774589" y="0"/>
                </a:cubicBezTo>
                <a:cubicBezTo>
                  <a:pt x="2063400" y="20470"/>
                  <a:pt x="2090152" y="-14502"/>
                  <a:pt x="2351641" y="0"/>
                </a:cubicBezTo>
                <a:cubicBezTo>
                  <a:pt x="2613130" y="14502"/>
                  <a:pt x="2802864" y="19125"/>
                  <a:pt x="2928693" y="0"/>
                </a:cubicBezTo>
                <a:cubicBezTo>
                  <a:pt x="3054522" y="-19125"/>
                  <a:pt x="3482611" y="-2038"/>
                  <a:pt x="3636046" y="0"/>
                </a:cubicBezTo>
                <a:cubicBezTo>
                  <a:pt x="3789481" y="2038"/>
                  <a:pt x="4012363" y="973"/>
                  <a:pt x="4343400" y="0"/>
                </a:cubicBezTo>
                <a:cubicBezTo>
                  <a:pt x="4342514" y="5429"/>
                  <a:pt x="4344221" y="14046"/>
                  <a:pt x="4343400" y="18288"/>
                </a:cubicBezTo>
                <a:cubicBezTo>
                  <a:pt x="4078870" y="-6138"/>
                  <a:pt x="4015967" y="29658"/>
                  <a:pt x="3809782" y="18288"/>
                </a:cubicBezTo>
                <a:cubicBezTo>
                  <a:pt x="3603597" y="6918"/>
                  <a:pt x="3495552" y="24439"/>
                  <a:pt x="3189297" y="18288"/>
                </a:cubicBezTo>
                <a:cubicBezTo>
                  <a:pt x="2883042" y="12137"/>
                  <a:pt x="2850610" y="32583"/>
                  <a:pt x="2568811" y="18288"/>
                </a:cubicBezTo>
                <a:cubicBezTo>
                  <a:pt x="2287012" y="3993"/>
                  <a:pt x="2279820" y="23580"/>
                  <a:pt x="1991759" y="18288"/>
                </a:cubicBezTo>
                <a:cubicBezTo>
                  <a:pt x="1703698" y="12996"/>
                  <a:pt x="1616455" y="23157"/>
                  <a:pt x="1284405" y="18288"/>
                </a:cubicBezTo>
                <a:cubicBezTo>
                  <a:pt x="952355" y="13419"/>
                  <a:pt x="783530" y="16053"/>
                  <a:pt x="577052" y="18288"/>
                </a:cubicBezTo>
                <a:cubicBezTo>
                  <a:pt x="370574" y="20523"/>
                  <a:pt x="173929" y="519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ED66BB9-3985-D089-0322-E59080F3EA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2533573"/>
            <a:ext cx="6655337" cy="364339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Wingdings" panose="020B0604020202020204" pitchFamily="34" charset="0"/>
              <a:buChar char="v"/>
            </a:pPr>
            <a:r>
              <a:rPr lang="ru-RU" sz="3200">
                <a:latin typeface="Times New Roman"/>
                <a:cs typeface="Times New Roman"/>
              </a:rPr>
              <a:t>Главное меню: навигация по приложению.</a:t>
            </a:r>
          </a:p>
          <a:p>
            <a:pPr>
              <a:buFont typeface="Wingdings" panose="020B0604020202020204" pitchFamily="34" charset="0"/>
              <a:buChar char="v"/>
            </a:pPr>
            <a:r>
              <a:rPr lang="ru-RU" sz="3200">
                <a:latin typeface="Times New Roman"/>
                <a:cs typeface="Times New Roman"/>
              </a:rPr>
              <a:t>Редактор колоды: сборка стратегии и выбор лидера.</a:t>
            </a:r>
          </a:p>
          <a:p>
            <a:pPr>
              <a:buFont typeface="Wingdings" panose="020B0604020202020204" pitchFamily="34" charset="0"/>
              <a:buChar char="v"/>
            </a:pPr>
            <a:r>
              <a:rPr lang="ru-RU" sz="3200">
                <a:latin typeface="Times New Roman"/>
                <a:cs typeface="Times New Roman"/>
              </a:rPr>
              <a:t>Экран сражения: основной игровой процесс.</a:t>
            </a:r>
          </a:p>
          <a:p>
            <a:pPr>
              <a:buFont typeface="Wingdings" panose="020B0604020202020204" pitchFamily="34" charset="0"/>
              <a:buChar char="v"/>
            </a:pPr>
            <a:endParaRPr lang="ru-RU" sz="220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D209D87-F525-0D43-5EBD-3222EEA4DC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1023" y="2523937"/>
            <a:ext cx="4220422" cy="1836328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2777795-E332-1ED4-F72E-69D722887E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1023" y="4508972"/>
            <a:ext cx="4220422" cy="1919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12320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59E484-9777-4536-DDB7-8CEDC9699C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>
                <a:solidFill>
                  <a:srgbClr val="000000"/>
                </a:solidFill>
                <a:ea typeface="+mj-lt"/>
                <a:cs typeface="+mj-lt"/>
              </a:rPr>
              <a:t>Специалист по безопасности: Анализ </a:t>
            </a:r>
            <a:r>
              <a:rPr lang="ru-RU" dirty="0">
                <a:solidFill>
                  <a:srgbClr val="000000"/>
                </a:solidFill>
                <a:ea typeface="+mj-lt"/>
                <a:cs typeface="+mj-lt"/>
              </a:rPr>
              <a:t>угроз информационной безопасности</a:t>
            </a:r>
            <a:endParaRPr lang="ru-RU" dirty="0">
              <a:solidFill>
                <a:srgbClr val="00000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F41AA3F-2B96-B00D-8247-7CE8018B5C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ru-RU" dirty="0"/>
              <a:t>Неактуальные угрозы: SQL-инъекции, XSS, CSRF, слабая аутентификация. Так как в проекте не используются сети, SQL, </a:t>
            </a:r>
            <a:r>
              <a:rPr lang="ru-RU"/>
              <a:t>веб-интерфейс или учётных записей.</a:t>
            </a:r>
          </a:p>
          <a:p>
            <a:pPr marL="0" indent="0">
              <a:buNone/>
            </a:pPr>
            <a:r>
              <a:rPr lang="ru-RU"/>
              <a:t>Актуальные угрозы:</a:t>
            </a:r>
          </a:p>
          <a:p>
            <a:r>
              <a:rPr lang="ru-RU"/>
              <a:t>Утечка данных при физическом доступе к устройству.</a:t>
            </a:r>
          </a:p>
          <a:p>
            <a:r>
              <a:rPr lang="ru-RU"/>
              <a:t>Повреждение сохранений (случайное или намеренное редактирование JSON).</a:t>
            </a:r>
          </a:p>
          <a:p>
            <a:r>
              <a:rPr lang="ru-RU"/>
              <a:t>Некорректные данные в справочнике карт (ошибки могут сломать игровую логику).</a:t>
            </a:r>
          </a:p>
          <a:p>
            <a:endParaRPr lang="ru-RU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Рукописный ввод 4">
                <a:extLst>
                  <a:ext uri="{FF2B5EF4-FFF2-40B4-BE49-F238E27FC236}">
                    <a16:creationId xmlns:a16="http://schemas.microsoft.com/office/drawing/2014/main" id="{A405994B-B221-A313-510A-DAC9D6F6B18D}"/>
                  </a:ext>
                </a:extLst>
              </p14:cNvPr>
              <p14:cNvContentPartPr/>
              <p14:nvPr/>
            </p14:nvContentPartPr>
            <p14:xfrm>
              <a:off x="844814" y="1713622"/>
              <a:ext cx="9972174" cy="10160"/>
            </p14:xfrm>
          </p:contentPart>
        </mc:Choice>
        <mc:Fallback>
          <p:pic>
            <p:nvPicPr>
              <p:cNvPr id="5" name="Рукописный ввод 4">
                <a:extLst>
                  <a:ext uri="{FF2B5EF4-FFF2-40B4-BE49-F238E27FC236}">
                    <a16:creationId xmlns:a16="http://schemas.microsoft.com/office/drawing/2014/main" id="{A405994B-B221-A313-510A-DAC9D6F6B18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90815" y="-1334378"/>
                <a:ext cx="10079812" cy="609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970430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1E913A-1FA4-3540-AB2B-348EFC898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</p:spPr>
        <p:txBody>
          <a:bodyPr>
            <a:normAutofit/>
          </a:bodyPr>
          <a:lstStyle/>
          <a:p>
            <a:r>
              <a:rPr lang="ru-RU">
                <a:ea typeface="+mj-lt"/>
                <a:cs typeface="+mj-lt"/>
              </a:rPr>
              <a:t>Реализованные меры защиты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E18EB9A-08C5-3153-CADE-D221AB48F2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072" y="2198362"/>
            <a:ext cx="5490928" cy="3917773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Font typeface="Wingdings" panose="020B0604020202020204" pitchFamily="34" charset="0"/>
              <a:buChar char="v"/>
            </a:pPr>
            <a:r>
              <a:rPr lang="ru-RU" sz="2200">
                <a:latin typeface="Times New Roman"/>
                <a:cs typeface="Times New Roman"/>
              </a:rPr>
              <a:t>Валидация данных: Проверка JSON при загрузке (fallback на дефолтные значения).</a:t>
            </a:r>
          </a:p>
          <a:p>
            <a:pPr>
              <a:buFont typeface="Wingdings" panose="020B0604020202020204" pitchFamily="34" charset="0"/>
              <a:buChar char="v"/>
            </a:pPr>
            <a:r>
              <a:rPr lang="ru-RU" sz="2200">
                <a:latin typeface="Times New Roman"/>
                <a:cs typeface="Times New Roman"/>
              </a:rPr>
              <a:t>Ограничение диапазона: Громкость жёстко ограничена от 0 до 100 через coerceIn.</a:t>
            </a:r>
          </a:p>
          <a:p>
            <a:pPr>
              <a:buFont typeface="Wingdings" panose="020B0604020202020204" pitchFamily="34" charset="0"/>
              <a:buChar char="v"/>
            </a:pPr>
            <a:r>
              <a:rPr lang="ru-RU" sz="2200">
                <a:latin typeface="Times New Roman"/>
                <a:cs typeface="Times New Roman"/>
              </a:rPr>
              <a:t>Сеттеры как фильтры: Установка значений происходит только через контролируемые методы.</a:t>
            </a:r>
          </a:p>
          <a:p>
            <a:pPr>
              <a:buFont typeface="Wingdings" panose="020B0604020202020204" pitchFamily="34" charset="0"/>
              <a:buChar char="v"/>
            </a:pPr>
            <a:r>
              <a:rPr lang="ru-RU" sz="2200">
                <a:latin typeface="Times New Roman"/>
                <a:cs typeface="Times New Roman"/>
              </a:rPr>
              <a:t>Ограничение действий: Муллиган строго до 3 карт (защита от некорректного использования).</a:t>
            </a:r>
          </a:p>
          <a:p>
            <a:pPr>
              <a:buFont typeface="Wingdings" panose="020B0604020202020204" pitchFamily="34" charset="0"/>
              <a:buChar char="v"/>
            </a:pPr>
            <a:endParaRPr lang="ru-RU" sz="200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51B6295-72B7-464D-32F1-276EB52680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9367" y="3703733"/>
            <a:ext cx="4788505" cy="718276"/>
          </a:xfrm>
          <a:prstGeom prst="rect">
            <a:avLst/>
          </a:prstGeom>
        </p:spPr>
      </p:pic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Рукописный ввод 5">
                <a:extLst>
                  <a:ext uri="{FF2B5EF4-FFF2-40B4-BE49-F238E27FC236}">
                    <a16:creationId xmlns:a16="http://schemas.microsoft.com/office/drawing/2014/main" id="{AE23DB4D-0035-850C-DDB3-2437B35D991B}"/>
                  </a:ext>
                </a:extLst>
              </p14:cNvPr>
              <p14:cNvContentPartPr/>
              <p14:nvPr/>
            </p14:nvContentPartPr>
            <p14:xfrm>
              <a:off x="744173" y="1828641"/>
              <a:ext cx="9972174" cy="10160"/>
            </p14:xfrm>
          </p:contentPart>
        </mc:Choice>
        <mc:Fallback>
          <p:pic>
            <p:nvPicPr>
              <p:cNvPr id="6" name="Рукописный ввод 5">
                <a:extLst>
                  <a:ext uri="{FF2B5EF4-FFF2-40B4-BE49-F238E27FC236}">
                    <a16:creationId xmlns:a16="http://schemas.microsoft.com/office/drawing/2014/main" id="{AE23DB4D-0035-850C-DDB3-2437B35D991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90176" y="-1219359"/>
                <a:ext cx="10079808" cy="6096000"/>
              </a:xfrm>
              <a:prstGeom prst="rect">
                <a:avLst/>
              </a:prstGeom>
            </p:spPr>
          </p:pic>
        </mc:Fallback>
      </mc:AlternateContent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6ADE2786-2F38-71C2-EA30-9D8B734456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08079" y="-33787"/>
            <a:ext cx="2009955" cy="1289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92633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550BE34-C2B8-49B8-8519-67A8CAD51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7457DD9-5A45-400A-AB4B-4B4EDECA2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A567CF-515B-F578-C870-AA045FB75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746" y="586822"/>
            <a:ext cx="3560252" cy="1645920"/>
          </a:xfrm>
        </p:spPr>
        <p:txBody>
          <a:bodyPr>
            <a:normAutofit/>
          </a:bodyPr>
          <a:lstStyle/>
          <a:p>
            <a:r>
              <a:rPr lang="ru-RU" sz="3200">
                <a:ea typeface="+mj-lt"/>
                <a:cs typeface="+mj-lt"/>
              </a:rPr>
              <a:t>Обработка исключений и валидация</a:t>
            </a:r>
            <a:endParaRPr lang="ru-RU" sz="32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41CF7D6-A660-431A-B0BB-140A0D5556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570A85B-3810-4F95-97B0-CBF4CCDB3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0ABB9C0-0113-B300-E43C-08056D6944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79277" y="687463"/>
            <a:ext cx="6002636" cy="16459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ru-RU" sz="1600">
                <a:latin typeface="Times New Roman"/>
                <a:cs typeface="Times New Roman"/>
              </a:rPr>
              <a:t>Принцип: Критичные операции оборачиваются в try-catch, чтобы приложение не падало. Например, безопасное чтение файла описаний способностей.</a:t>
            </a:r>
          </a:p>
          <a:p>
            <a:pPr marL="0" indent="0">
              <a:buNone/>
            </a:pPr>
            <a:r>
              <a:rPr lang="ru-RU" sz="1600">
                <a:latin typeface="Times New Roman"/>
                <a:cs typeface="Times New Roman"/>
              </a:rPr>
              <a:t>Модуль валидации: Распределён между DeckRepository (проверка JSON), BattleActivity (проверка действий) и SoundManager (проверка громкости).</a:t>
            </a:r>
          </a:p>
          <a:p>
            <a:endParaRPr lang="ru-RU" sz="150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36BF4F4-062E-F524-9428-3E92C50EEF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" y="3708406"/>
            <a:ext cx="11164824" cy="1535163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E03BBDF-0D53-EDC1-35B9-167A9F2DFE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1211" y="5343345"/>
            <a:ext cx="2139351" cy="1404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168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D84122-25DA-1F30-50F5-AF2B01428F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>
                <a:solidFill>
                  <a:srgbClr val="000000"/>
                </a:solidFill>
                <a:ea typeface="+mj-lt"/>
                <a:cs typeface="+mj-lt"/>
              </a:rPr>
              <a:t>Нормативные акты и итоги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47CBF52-489C-2ECF-A414-EDEBD3FE9C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152-ФЗ «О персональных данных»: Применяется минимально, так как персональные данные не собираются.</a:t>
            </a:r>
          </a:p>
          <a:p>
            <a:r>
              <a:rPr lang="ru-RU"/>
              <a:t>149-ФЗ «Об информации»: Применим в общем виде как к любому ПО.</a:t>
            </a:r>
          </a:p>
          <a:p>
            <a:r>
              <a:rPr lang="ru-RU"/>
              <a:t>GDPR: Неактуален, так как ориентация на РФ.</a:t>
            </a:r>
          </a:p>
          <a:p>
            <a:r>
              <a:rPr lang="ru-RU"/>
              <a:t>Публикация: Для Google Play / RuStore потребуется декларация об отсутствии сбора персональных данных.</a:t>
            </a:r>
          </a:p>
          <a:p>
            <a:r>
              <a:rPr lang="ru-RU"/>
              <a:t>Вывод: В проекте реализованы все необходимые меры для безопасной и стабильной работы офлайн-приложения.</a:t>
            </a:r>
          </a:p>
          <a:p>
            <a:endParaRPr lang="ru-RU" dirty="0"/>
          </a:p>
        </p:txBody>
      </p:sp>
      <p:pic>
        <p:nvPicPr>
          <p:cNvPr id="4" name="Рисунок 3" descr="Picture background">
            <a:extLst>
              <a:ext uri="{FF2B5EF4-FFF2-40B4-BE49-F238E27FC236}">
                <a16:creationId xmlns:a16="http://schemas.microsoft.com/office/drawing/2014/main" id="{C60EC1A8-85CA-6886-2060-B27EC529AE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6400" y="1054"/>
            <a:ext cx="1757680" cy="1717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773156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Широкоэкранный</PresentationFormat>
  <Paragraphs>0</Paragraphs>
  <Slides>15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16" baseType="lpstr">
      <vt:lpstr>Тема Office</vt:lpstr>
      <vt:lpstr>Разработка мобильного приложения «Гвинт» на платформе Android</vt:lpstr>
      <vt:lpstr>О проекте</vt:lpstr>
      <vt:lpstr>Архитектура ядра: ООП-подход</vt:lpstr>
      <vt:lpstr>Принцип DRY и распределение логики</vt:lpstr>
      <vt:lpstr>Реализация полиморфизма через интерфейс</vt:lpstr>
      <vt:lpstr>Композиция менеджеров в BattleActivity</vt:lpstr>
      <vt:lpstr>Классы игрового ядра</vt:lpstr>
      <vt:lpstr>Разработчика интерфейса: Организация пользовательского интерфейса</vt:lpstr>
      <vt:lpstr>Инкапсуляция: связь UI с ядром</vt:lpstr>
      <vt:lpstr>Взаимодействие пользователя и системы</vt:lpstr>
      <vt:lpstr>Реализованные экраны приложения</vt:lpstr>
      <vt:lpstr>Специалист по безопасности: Анализ угроз информационной безопасности</vt:lpstr>
      <vt:lpstr>Реализованные меры защиты</vt:lpstr>
      <vt:lpstr>Обработка исключений и валидация</vt:lpstr>
      <vt:lpstr>Нормативные акты и итоги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352</cp:revision>
  <dcterms:created xsi:type="dcterms:W3CDTF">2026-10-18T07:13:54Z</dcterms:created>
  <dcterms:modified xsi:type="dcterms:W3CDTF">2026-10-18T08:54:14Z</dcterms:modified>
</cp:coreProperties>
</file>